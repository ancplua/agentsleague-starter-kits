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3"/>
  </p:notesMasterIdLst>
  <p:sldIdLst>
    <p:sldId id="42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EA553-41F0-4ADE-9C17-0B79119E7394}" v="1" dt="2026-01-15T22:01:45.774"/>
    <p1510:client id="{97D9914F-BBC1-4220-BA84-1BBA1DE90E18}" v="221" dt="2026-01-15T01:47:46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26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10360-7F2B-43B7-AE47-3D95E72B02E5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86178-B4BC-4168-845A-05655C68B0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quare photo 2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spiral&#10;&#10;Description automatically generated">
            <a:extLst>
              <a:ext uri="{FF2B5EF4-FFF2-40B4-BE49-F238E27FC236}">
                <a16:creationId xmlns:a16="http://schemas.microsoft.com/office/drawing/2014/main" id="{361D5F98-BDD8-425B-488B-22D9DCB803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8D8C93-A68F-427F-AC31-AE3104AD11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17984"/>
            <a:ext cx="7758903" cy="615553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7752752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4D1E6E7-6980-34C8-5B50-9BC3D2B8E2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8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ky with white clouds&#10;&#10;AI-generated content may be incorrect.">
            <a:extLst>
              <a:ext uri="{FF2B5EF4-FFF2-40B4-BE49-F238E27FC236}">
                <a16:creationId xmlns:a16="http://schemas.microsoft.com/office/drawing/2014/main" id="{D06997A8-9B2A-B93C-F597-79B38162AF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607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8B1CC-7E89-FC8B-DE61-81B292780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FFF8F3">
                <a:tint val="45000"/>
                <a:satMod val="400000"/>
              </a:srgbClr>
            </a:duotone>
          </a:blip>
          <a:srcRect t="7440" b="52893"/>
          <a:stretch/>
        </p:blipFill>
        <p:spPr>
          <a:xfrm>
            <a:off x="0" y="0"/>
            <a:ext cx="12191999" cy="6857999"/>
          </a:xfrm>
          <a:prstGeom prst="round2SameRect">
            <a:avLst>
              <a:gd name="adj1" fmla="val 0"/>
              <a:gd name="adj2" fmla="val 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7235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82976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urved object">
            <a:extLst>
              <a:ext uri="{FF2B5EF4-FFF2-40B4-BE49-F238E27FC236}">
                <a16:creationId xmlns:a16="http://schemas.microsoft.com/office/drawing/2014/main" id="{65978E02-7B42-4283-0732-A5ECD04C20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9B2C81-3582-FD54-9197-2A2E6EA52FF9}"/>
              </a:ext>
            </a:extLst>
          </p:cNvPr>
          <p:cNvSpPr/>
          <p:nvPr userDrawn="1"/>
        </p:nvSpPr>
        <p:spPr bwMode="auto">
          <a:xfrm>
            <a:off x="0" y="0"/>
            <a:ext cx="8586216" cy="6858000"/>
          </a:xfrm>
          <a:prstGeom prst="rect">
            <a:avLst/>
          </a:prstGeom>
          <a:gradFill>
            <a:gsLst>
              <a:gs pos="0">
                <a:srgbClr val="FFF8F3"/>
              </a:gs>
              <a:gs pos="100000">
                <a:srgbClr val="FFF8F3">
                  <a:alpha val="0"/>
                </a:srgbClr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60028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07777"/>
          </a:xfrm>
        </p:spPr>
        <p:txBody>
          <a:bodyPr tIns="0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8025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enario five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4A1448-F8D7-EA0F-E466-136E038AA3F1}"/>
              </a:ext>
            </a:extLst>
          </p:cNvPr>
          <p:cNvCxnSpPr>
            <a:cxnSpLocks/>
          </p:cNvCxnSpPr>
          <p:nvPr userDrawn="1"/>
        </p:nvCxnSpPr>
        <p:spPr>
          <a:xfrm>
            <a:off x="3182889" y="1352539"/>
            <a:ext cx="8339848" cy="0"/>
          </a:xfrm>
          <a:prstGeom prst="line">
            <a:avLst/>
          </a:pr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1620000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6C3234-D3F7-EB91-19FC-3FF3921A6EF7}"/>
              </a:ext>
            </a:extLst>
          </p:cNvPr>
          <p:cNvSpPr>
            <a:spLocks/>
          </p:cNvSpPr>
          <p:nvPr userDrawn="1"/>
        </p:nvSpPr>
        <p:spPr bwMode="auto">
          <a:xfrm>
            <a:off x="2179638" y="304726"/>
            <a:ext cx="4582191" cy="526298"/>
          </a:xfrm>
          <a:prstGeom prst="roundRect">
            <a:avLst/>
          </a:prstGeom>
          <a:solidFill>
            <a:srgbClr val="DDEEF8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54000" algn="ctr" rotWithShape="0">
              <a:schemeClr val="bg1">
                <a:lumMod val="75000"/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148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489450-2B99-F45D-B0AD-1BD8CA42038B}"/>
              </a:ext>
            </a:extLst>
          </p:cNvPr>
          <p:cNvSpPr txBox="1">
            <a:spLocks/>
          </p:cNvSpPr>
          <p:nvPr userDrawn="1"/>
        </p:nvSpPr>
        <p:spPr>
          <a:xfrm>
            <a:off x="0" y="304726"/>
            <a:ext cx="2431247" cy="526298"/>
          </a:xfrm>
          <a:custGeom>
            <a:avLst/>
            <a:gdLst>
              <a:gd name="connsiteX0" fmla="*/ 1993 w 2431247"/>
              <a:gd name="connsiteY0" fmla="*/ 0 h 526298"/>
              <a:gd name="connsiteX1" fmla="*/ 2338766 w 2431247"/>
              <a:gd name="connsiteY1" fmla="*/ 0 h 526298"/>
              <a:gd name="connsiteX2" fmla="*/ 2431247 w 2431247"/>
              <a:gd name="connsiteY2" fmla="*/ 92481 h 526298"/>
              <a:gd name="connsiteX3" fmla="*/ 2431247 w 2431247"/>
              <a:gd name="connsiteY3" fmla="*/ 433817 h 526298"/>
              <a:gd name="connsiteX4" fmla="*/ 2338766 w 2431247"/>
              <a:gd name="connsiteY4" fmla="*/ 526298 h 526298"/>
              <a:gd name="connsiteX5" fmla="*/ 1993 w 2431247"/>
              <a:gd name="connsiteY5" fmla="*/ 526298 h 526298"/>
              <a:gd name="connsiteX6" fmla="*/ 0 w 2431247"/>
              <a:gd name="connsiteY6" fmla="*/ 525896 h 526298"/>
              <a:gd name="connsiteX7" fmla="*/ 0 w 2431247"/>
              <a:gd name="connsiteY7" fmla="*/ 402 h 526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1247" h="526298">
                <a:moveTo>
                  <a:pt x="1993" y="0"/>
                </a:moveTo>
                <a:lnTo>
                  <a:pt x="2338766" y="0"/>
                </a:lnTo>
                <a:cubicBezTo>
                  <a:pt x="2389842" y="0"/>
                  <a:pt x="2431247" y="41405"/>
                  <a:pt x="2431247" y="92481"/>
                </a:cubicBezTo>
                <a:lnTo>
                  <a:pt x="2431247" y="433817"/>
                </a:lnTo>
                <a:cubicBezTo>
                  <a:pt x="2431247" y="484893"/>
                  <a:pt x="2389842" y="526298"/>
                  <a:pt x="2338766" y="526298"/>
                </a:cubicBezTo>
                <a:lnTo>
                  <a:pt x="1993" y="526298"/>
                </a:lnTo>
                <a:lnTo>
                  <a:pt x="0" y="525896"/>
                </a:lnTo>
                <a:lnTo>
                  <a:pt x="0" y="402"/>
                </a:ln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vert="horz" wrap="square" lIns="310896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71" name="Scenario Level">
            <a:extLst>
              <a:ext uri="{FF2B5EF4-FFF2-40B4-BE49-F238E27FC236}">
                <a16:creationId xmlns:a16="http://schemas.microsoft.com/office/drawing/2014/main" id="{5C914349-B5B3-D703-EE31-78482DD3DAA9}"/>
              </a:ext>
            </a:extLst>
          </p:cNvPr>
          <p:cNvSpPr txBox="1"/>
          <p:nvPr userDrawn="1"/>
        </p:nvSpPr>
        <p:spPr>
          <a:xfrm>
            <a:off x="10895070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73" name="Available with">
            <a:extLst>
              <a:ext uri="{FF2B5EF4-FFF2-40B4-BE49-F238E27FC236}">
                <a16:creationId xmlns:a16="http://schemas.microsoft.com/office/drawing/2014/main" id="{1E59605F-F04E-58C0-102B-28C6AFF01B7D}"/>
              </a:ext>
            </a:extLst>
          </p:cNvPr>
          <p:cNvSpPr txBox="1"/>
          <p:nvPr userDrawn="1"/>
        </p:nvSpPr>
        <p:spPr>
          <a:xfrm>
            <a:off x="9126798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Available with: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84F79FD-8FB8-5727-A3FB-9193B8AF441D}"/>
              </a:ext>
            </a:extLst>
          </p:cNvPr>
          <p:cNvCxnSpPr/>
          <p:nvPr userDrawn="1"/>
        </p:nvCxnSpPr>
        <p:spPr>
          <a:xfrm>
            <a:off x="10357789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CD8F809-3EF5-43AD-9927-8D87766BB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05591" y="1247214"/>
            <a:ext cx="210652" cy="210652"/>
            <a:chOff x="5214995" y="-1168400"/>
            <a:chExt cx="431800" cy="4318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D95EE76-3BB3-5D96-1162-650D8265E79B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81" name="Rectangle 89">
              <a:extLst>
                <a:ext uri="{FF2B5EF4-FFF2-40B4-BE49-F238E27FC236}">
                  <a16:creationId xmlns:a16="http://schemas.microsoft.com/office/drawing/2014/main" id="{C479534D-98FF-6F65-ECCB-79C6294552EA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684A0D0-9EC4-FC0C-B023-76950C80D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89384" y="1247214"/>
            <a:ext cx="210652" cy="210652"/>
            <a:chOff x="5214995" y="-1168400"/>
            <a:chExt cx="431800" cy="431800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82D2312-1888-7E4C-63E7-F0B9A0902E6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85" name="Rectangle 89">
              <a:extLst>
                <a:ext uri="{FF2B5EF4-FFF2-40B4-BE49-F238E27FC236}">
                  <a16:creationId xmlns:a16="http://schemas.microsoft.com/office/drawing/2014/main" id="{E1424AAE-0B41-949F-3E6D-9A5D7323D7DB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37120404-23B9-B744-0816-1D0C351C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556" y="429376"/>
            <a:ext cx="4144817" cy="276999"/>
          </a:xfrm>
        </p:spPr>
        <p:txBody>
          <a:bodyPr/>
          <a:lstStyle>
            <a:lvl1pPr>
              <a:defRPr lang="en-IN" sz="1800" kern="1200" spc="-50" baseline="0" dirty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0">
            <a:extLst>
              <a:ext uri="{FF2B5EF4-FFF2-40B4-BE49-F238E27FC236}">
                <a16:creationId xmlns:a16="http://schemas.microsoft.com/office/drawing/2014/main" id="{BECC6E1E-CB20-24F2-9CE6-B77C08524D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4796" y="413987"/>
            <a:ext cx="1941119" cy="30777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spc="-50" baseline="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4" name="Licenses">
            <a:extLst>
              <a:ext uri="{FF2B5EF4-FFF2-40B4-BE49-F238E27FC236}">
                <a16:creationId xmlns:a16="http://schemas.microsoft.com/office/drawing/2014/main" id="{E442F0DF-3967-354D-A17D-A2229F6B3036}"/>
              </a:ext>
            </a:extLst>
          </p:cNvPr>
          <p:cNvSpPr>
            <a:spLocks noGrp="1"/>
          </p:cNvSpPr>
          <p:nvPr userDrawn="1">
            <p:ph type="body" sz="quarter" idx="44"/>
          </p:nvPr>
        </p:nvSpPr>
        <p:spPr>
          <a:xfrm>
            <a:off x="7149557" y="521100"/>
            <a:ext cx="2969488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0" baseline="0">
                <a:solidFill>
                  <a:srgbClr val="C03BC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Level">
            <a:extLst>
              <a:ext uri="{FF2B5EF4-FFF2-40B4-BE49-F238E27FC236}">
                <a16:creationId xmlns:a16="http://schemas.microsoft.com/office/drawing/2014/main" id="{0CD96223-5C6F-D226-0888-B8E8522B7793}"/>
              </a:ext>
            </a:extLst>
          </p:cNvPr>
          <p:cNvSpPr>
            <a:spLocks noGrp="1"/>
          </p:cNvSpPr>
          <p:nvPr userDrawn="1">
            <p:ph type="body" sz="quarter" idx="43"/>
          </p:nvPr>
        </p:nvSpPr>
        <p:spPr>
          <a:xfrm>
            <a:off x="10430351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0" baseline="0">
                <a:solidFill>
                  <a:srgbClr val="0078D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Click to edit</a:t>
            </a:r>
          </a:p>
        </p:txBody>
      </p:sp>
      <p:sp>
        <p:nvSpPr>
          <p:cNvPr id="14" name="Step 5 Top">
            <a:extLst>
              <a:ext uri="{FF2B5EF4-FFF2-40B4-BE49-F238E27FC236}">
                <a16:creationId xmlns:a16="http://schemas.microsoft.com/office/drawing/2014/main" id="{5F6FC536-93D3-A645-6321-E19971F6F7A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11388" y="1026303"/>
            <a:ext cx="2431246" cy="1131079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050" b="0" i="0" u="none" strike="noStrike" kern="1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53" name="Text Placeholder 8">
            <a:extLst>
              <a:ext uri="{FF2B5EF4-FFF2-40B4-BE49-F238E27FC236}">
                <a16:creationId xmlns:a16="http://schemas.microsoft.com/office/drawing/2014/main" id="{20290FDF-B386-A402-3F54-8F38D89E385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20721" y="3467940"/>
            <a:ext cx="1131650" cy="219456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52" name="Text Placeholder 8">
            <a:extLst>
              <a:ext uri="{FF2B5EF4-FFF2-40B4-BE49-F238E27FC236}">
                <a16:creationId xmlns:a16="http://schemas.microsoft.com/office/drawing/2014/main" id="{CC259F50-FF88-8A52-A7A2-B916E54D000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320721" y="4709762"/>
            <a:ext cx="1131651" cy="219456"/>
          </a:xfrm>
          <a:prstGeom prst="roundRect">
            <a:avLst>
              <a:gd name="adj" fmla="val 50000"/>
            </a:avLst>
          </a:prstGeom>
          <a:solidFill>
            <a:srgbClr val="C03BC4"/>
          </a:solidFill>
          <a:ln w="12700">
            <a:solidFill>
              <a:srgbClr val="C03BC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04" name="Step 1 Title">
            <a:extLst>
              <a:ext uri="{FF2B5EF4-FFF2-40B4-BE49-F238E27FC236}">
                <a16:creationId xmlns:a16="http://schemas.microsoft.com/office/drawing/2014/main" id="{AAECE90F-E2FD-C50D-2380-5A623E6E68CC}"/>
              </a:ext>
            </a:extLst>
          </p:cNvPr>
          <p:cNvSpPr>
            <a:spLocks noGrp="1"/>
          </p:cNvSpPr>
          <p:nvPr userDrawn="1">
            <p:ph type="body" sz="quarter" idx="47"/>
          </p:nvPr>
        </p:nvSpPr>
        <p:spPr>
          <a:xfrm>
            <a:off x="3182890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Step 1 Top">
            <a:extLst>
              <a:ext uri="{FF2B5EF4-FFF2-40B4-BE49-F238E27FC236}">
                <a16:creationId xmlns:a16="http://schemas.microsoft.com/office/drawing/2014/main" id="{A10522D6-287E-CAF9-7877-202543AC084D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>
          <a:xfrm>
            <a:off x="3182890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899216D1-14EF-7DC6-A6A8-3649535AF5E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182889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14" name="Step 1 Title">
            <a:extLst>
              <a:ext uri="{FF2B5EF4-FFF2-40B4-BE49-F238E27FC236}">
                <a16:creationId xmlns:a16="http://schemas.microsoft.com/office/drawing/2014/main" id="{AFF8CAD5-73C9-15E8-C15B-5669E59EDF22}"/>
              </a:ext>
            </a:extLst>
          </p:cNvPr>
          <p:cNvSpPr>
            <a:spLocks noGrp="1"/>
          </p:cNvSpPr>
          <p:nvPr userDrawn="1">
            <p:ph type="body" sz="quarter" idx="49"/>
          </p:nvPr>
        </p:nvSpPr>
        <p:spPr>
          <a:xfrm>
            <a:off x="6066682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2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Step 1 Top">
            <a:extLst>
              <a:ext uri="{FF2B5EF4-FFF2-40B4-BE49-F238E27FC236}">
                <a16:creationId xmlns:a16="http://schemas.microsoft.com/office/drawing/2014/main" id="{CBBB447E-62C7-3EE8-58FD-A63BA4091DC2}"/>
              </a:ext>
            </a:extLst>
          </p:cNvPr>
          <p:cNvSpPr>
            <a:spLocks noGrp="1"/>
          </p:cNvSpPr>
          <p:nvPr userDrawn="1">
            <p:ph type="body" sz="quarter" idx="50"/>
          </p:nvPr>
        </p:nvSpPr>
        <p:spPr>
          <a:xfrm>
            <a:off x="6066682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6E7EFF7-AB37-8C10-0D72-C219A327442B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6066682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27" name="Step 1 Title">
            <a:extLst>
              <a:ext uri="{FF2B5EF4-FFF2-40B4-BE49-F238E27FC236}">
                <a16:creationId xmlns:a16="http://schemas.microsoft.com/office/drawing/2014/main" id="{DC3628C0-ED08-9682-4738-5B06F7C21C56}"/>
              </a:ext>
            </a:extLst>
          </p:cNvPr>
          <p:cNvSpPr>
            <a:spLocks noGrp="1"/>
          </p:cNvSpPr>
          <p:nvPr userDrawn="1">
            <p:ph type="body" sz="quarter" idx="52"/>
          </p:nvPr>
        </p:nvSpPr>
        <p:spPr>
          <a:xfrm>
            <a:off x="8950475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3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Step 1 Top">
            <a:extLst>
              <a:ext uri="{FF2B5EF4-FFF2-40B4-BE49-F238E27FC236}">
                <a16:creationId xmlns:a16="http://schemas.microsoft.com/office/drawing/2014/main" id="{E91EBCF2-F3C6-3640-61AD-0C42AE3B6C92}"/>
              </a:ext>
            </a:extLst>
          </p:cNvPr>
          <p:cNvSpPr>
            <a:spLocks noGrp="1"/>
          </p:cNvSpPr>
          <p:nvPr userDrawn="1">
            <p:ph type="body" sz="quarter" idx="53"/>
          </p:nvPr>
        </p:nvSpPr>
        <p:spPr>
          <a:xfrm>
            <a:off x="8950475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820393F-A448-2E4C-089D-807F9DC2A07E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8950475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45" name="Footnote">
            <a:extLst>
              <a:ext uri="{FF2B5EF4-FFF2-40B4-BE49-F238E27FC236}">
                <a16:creationId xmlns:a16="http://schemas.microsoft.com/office/drawing/2014/main" id="{EFC765AC-7584-A8D3-1059-43D998733533}"/>
              </a:ext>
            </a:extLst>
          </p:cNvPr>
          <p:cNvSpPr txBox="1">
            <a:spLocks/>
          </p:cNvSpPr>
          <p:nvPr userDrawn="1"/>
        </p:nvSpPr>
        <p:spPr>
          <a:xfrm>
            <a:off x="320040" y="6309360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1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or the Microsoft 365 Copilot Chat mobile app and set toggle to “Web”.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2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the Microsoft 365 Copilot Chat mobile app, or the M365 Copilot Chat app in Teams, and set toggle to “Work”.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3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AI Agents allow Copilot to access your organization-specific apps. In the past this would have required an API call to get data from a system of record.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</p:spTree>
    <p:extLst>
      <p:ext uri="{BB962C8B-B14F-4D97-AF65-F5344CB8AC3E}">
        <p14:creationId xmlns:p14="http://schemas.microsoft.com/office/powerpoint/2010/main" val="33699104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8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60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in the life six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387766"/>
            <a:ext cx="5672544" cy="526298"/>
          </a:xfrm>
        </p:spPr>
        <p:txBody>
          <a:bodyPr tIns="0"/>
          <a:lstStyle>
            <a:lvl1pPr>
              <a:lnSpc>
                <a:spcPct val="95000"/>
              </a:lnSpc>
              <a:defRPr sz="18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style; can be up to two lines long;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75" name="Scenario Level">
            <a:extLst>
              <a:ext uri="{FF2B5EF4-FFF2-40B4-BE49-F238E27FC236}">
                <a16:creationId xmlns:a16="http://schemas.microsoft.com/office/drawing/2014/main" id="{1BB75DAB-4D8A-2933-BB52-0C94AA4816E3}"/>
              </a:ext>
            </a:extLst>
          </p:cNvPr>
          <p:cNvSpPr txBox="1"/>
          <p:nvPr userDrawn="1"/>
        </p:nvSpPr>
        <p:spPr>
          <a:xfrm>
            <a:off x="10955436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3" name="Level">
            <a:extLst>
              <a:ext uri="{FF2B5EF4-FFF2-40B4-BE49-F238E27FC236}">
                <a16:creationId xmlns:a16="http://schemas.microsoft.com/office/drawing/2014/main" id="{78D71A05-3479-3DEB-1227-2FC98983A8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430234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0078D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Buy</a:t>
            </a:r>
          </a:p>
        </p:txBody>
      </p:sp>
      <p:sp>
        <p:nvSpPr>
          <p:cNvPr id="84" name="Available With">
            <a:extLst>
              <a:ext uri="{FF2B5EF4-FFF2-40B4-BE49-F238E27FC236}">
                <a16:creationId xmlns:a16="http://schemas.microsoft.com/office/drawing/2014/main" id="{8D8427AA-F015-D373-46E2-2EB1053D80CE}"/>
              </a:ext>
            </a:extLst>
          </p:cNvPr>
          <p:cNvSpPr txBox="1"/>
          <p:nvPr userDrawn="1"/>
        </p:nvSpPr>
        <p:spPr>
          <a:xfrm>
            <a:off x="9187165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Available with: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216CED8-8F45-B380-FB1B-B9408979340F}"/>
              </a:ext>
            </a:extLst>
          </p:cNvPr>
          <p:cNvCxnSpPr/>
          <p:nvPr userDrawn="1"/>
        </p:nvCxnSpPr>
        <p:spPr>
          <a:xfrm>
            <a:off x="10357672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icense">
            <a:extLst>
              <a:ext uri="{FF2B5EF4-FFF2-40B4-BE49-F238E27FC236}">
                <a16:creationId xmlns:a16="http://schemas.microsoft.com/office/drawing/2014/main" id="{6B562108-00FE-5F42-7550-13BB7DE58E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9107" y="521099"/>
            <a:ext cx="3599821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C03BC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Microsoft 365 Copilot</a:t>
            </a:r>
          </a:p>
        </p:txBody>
      </p:sp>
      <p:sp>
        <p:nvSpPr>
          <p:cNvPr id="119" name="Freeform: Shape 2">
            <a:extLst>
              <a:ext uri="{FF2B5EF4-FFF2-40B4-BE49-F238E27FC236}">
                <a16:creationId xmlns:a16="http://schemas.microsoft.com/office/drawing/2014/main" id="{DFCC0CE5-9BBF-33A2-43D3-99555654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857513"/>
            <a:ext cx="10010265" cy="2453282"/>
          </a:xfrm>
          <a:custGeom>
            <a:avLst/>
            <a:gdLst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  <a:gd name="connsiteX0" fmla="*/ 25400 w 9096375"/>
              <a:gd name="connsiteY0" fmla="*/ 0 h 2491048"/>
              <a:gd name="connsiteX1" fmla="*/ 8875992 w 9096375"/>
              <a:gd name="connsiteY1" fmla="*/ 0 h 2491048"/>
              <a:gd name="connsiteX2" fmla="*/ 9096375 w 9096375"/>
              <a:gd name="connsiteY2" fmla="*/ 220383 h 2491048"/>
              <a:gd name="connsiteX3" fmla="*/ 9096375 w 9096375"/>
              <a:gd name="connsiteY3" fmla="*/ 2270665 h 2491048"/>
              <a:gd name="connsiteX4" fmla="*/ 8875992 w 9096375"/>
              <a:gd name="connsiteY4" fmla="*/ 2491048 h 2491048"/>
              <a:gd name="connsiteX5" fmla="*/ 25400 w 9096375"/>
              <a:gd name="connsiteY5" fmla="*/ 2491048 h 2491048"/>
              <a:gd name="connsiteX6" fmla="*/ 0 w 9096375"/>
              <a:gd name="connsiteY6" fmla="*/ 1182948 h 2491048"/>
              <a:gd name="connsiteX7" fmla="*/ 25400 w 9096375"/>
              <a:gd name="connsiteY7" fmla="*/ 0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7" fmla="*/ 91440 w 9096375"/>
              <a:gd name="connsiteY7" fmla="*/ 1274388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70975" h="2491048">
                <a:moveTo>
                  <a:pt x="0" y="0"/>
                </a:moveTo>
                <a:lnTo>
                  <a:pt x="8850592" y="0"/>
                </a:lnTo>
                <a:cubicBezTo>
                  <a:pt x="8972306" y="0"/>
                  <a:pt x="9070975" y="98669"/>
                  <a:pt x="9070975" y="220383"/>
                </a:cubicBezTo>
                <a:lnTo>
                  <a:pt x="9070975" y="2270665"/>
                </a:lnTo>
                <a:cubicBezTo>
                  <a:pt x="9070975" y="2392379"/>
                  <a:pt x="8972306" y="2491048"/>
                  <a:pt x="8850592" y="2491048"/>
                </a:cubicBezTo>
                <a:lnTo>
                  <a:pt x="0" y="2491048"/>
                </a:lnTo>
              </a:path>
            </a:pathLst>
          </a:cu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3E1CBA9-BB11-EF2E-649E-27B49E82FE86}"/>
              </a:ext>
            </a:extLst>
          </p:cNvPr>
          <p:cNvGrpSpPr/>
          <p:nvPr userDrawn="1"/>
        </p:nvGrpSpPr>
        <p:grpSpPr>
          <a:xfrm>
            <a:off x="3476832" y="1793093"/>
            <a:ext cx="166152" cy="166152"/>
            <a:chOff x="5214995" y="-1168400"/>
            <a:chExt cx="431800" cy="431800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E54C8AC7-0DF2-A7B4-59BC-354BDE9A823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9" name="Rectangle 89">
              <a:extLst>
                <a:ext uri="{FF2B5EF4-FFF2-40B4-BE49-F238E27FC236}">
                  <a16:creationId xmlns:a16="http://schemas.microsoft.com/office/drawing/2014/main" id="{F0376496-3125-ED18-7608-C142A0C35F3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D3E10AB-B82F-F7E8-A33D-8AF61C784420}"/>
              </a:ext>
            </a:extLst>
          </p:cNvPr>
          <p:cNvGrpSpPr/>
          <p:nvPr userDrawn="1"/>
        </p:nvGrpSpPr>
        <p:grpSpPr>
          <a:xfrm>
            <a:off x="6669529" y="1793093"/>
            <a:ext cx="166152" cy="166152"/>
            <a:chOff x="5214995" y="-1168400"/>
            <a:chExt cx="431800" cy="431800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CC526CF7-4F8D-6DB9-E3E9-2381E7AFAF4A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2" name="Rectangle 89">
              <a:extLst>
                <a:ext uri="{FF2B5EF4-FFF2-40B4-BE49-F238E27FC236}">
                  <a16:creationId xmlns:a16="http://schemas.microsoft.com/office/drawing/2014/main" id="{63E3BD4D-8045-49DC-2041-46643AE5ED02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16F1C59-4D7D-3BDD-0560-654E11A9B15E}"/>
              </a:ext>
            </a:extLst>
          </p:cNvPr>
          <p:cNvGrpSpPr/>
          <p:nvPr userDrawn="1"/>
        </p:nvGrpSpPr>
        <p:grpSpPr>
          <a:xfrm flipH="1">
            <a:off x="3476832" y="4248344"/>
            <a:ext cx="166152" cy="166152"/>
            <a:chOff x="5214995" y="-1168400"/>
            <a:chExt cx="431800" cy="431800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0C410FC-F149-F1FA-B620-BF7F0EDE7D6C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5" name="Rectangle 89">
              <a:extLst>
                <a:ext uri="{FF2B5EF4-FFF2-40B4-BE49-F238E27FC236}">
                  <a16:creationId xmlns:a16="http://schemas.microsoft.com/office/drawing/2014/main" id="{5B5C9B65-59ED-2529-1E53-C9ABE9CB79FD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8DAF83D-E0BD-BE8E-ECEC-5E5EDE3E6C74}"/>
              </a:ext>
            </a:extLst>
          </p:cNvPr>
          <p:cNvGrpSpPr/>
          <p:nvPr userDrawn="1"/>
        </p:nvGrpSpPr>
        <p:grpSpPr>
          <a:xfrm flipH="1">
            <a:off x="6669529" y="4248344"/>
            <a:ext cx="166152" cy="166152"/>
            <a:chOff x="5214995" y="-1168400"/>
            <a:chExt cx="431800" cy="431800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CC39567-C008-3C38-03DA-28EE0BE7483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8" name="Rectangle 89">
              <a:extLst>
                <a:ext uri="{FF2B5EF4-FFF2-40B4-BE49-F238E27FC236}">
                  <a16:creationId xmlns:a16="http://schemas.microsoft.com/office/drawing/2014/main" id="{99B2574B-7594-72E2-E826-4D4DA471A11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60DF7C5-E7F6-A90D-706C-6592ECDDB338}"/>
              </a:ext>
            </a:extLst>
          </p:cNvPr>
          <p:cNvGrpSpPr/>
          <p:nvPr userDrawn="1"/>
        </p:nvGrpSpPr>
        <p:grpSpPr>
          <a:xfrm rot="5400000">
            <a:off x="9928103" y="2233511"/>
            <a:ext cx="166152" cy="166152"/>
            <a:chOff x="5214995" y="-1168400"/>
            <a:chExt cx="431800" cy="431800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1A9EA57-349E-6453-094C-DB252913E583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79" name="Rectangle 89">
              <a:extLst>
                <a:ext uri="{FF2B5EF4-FFF2-40B4-BE49-F238E27FC236}">
                  <a16:creationId xmlns:a16="http://schemas.microsoft.com/office/drawing/2014/main" id="{217C0C60-8F15-8390-C6A7-0DB9E99CA65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572509-4831-8A48-B663-AE17D9FD8ED5}"/>
              </a:ext>
            </a:extLst>
          </p:cNvPr>
          <p:cNvGrpSpPr/>
          <p:nvPr userDrawn="1"/>
        </p:nvGrpSpPr>
        <p:grpSpPr>
          <a:xfrm rot="5400000">
            <a:off x="9928103" y="3954518"/>
            <a:ext cx="166152" cy="166152"/>
            <a:chOff x="5214995" y="-1168400"/>
            <a:chExt cx="431800" cy="431800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068A591D-A59C-D3D7-2C67-293B3727D0A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82" name="Rectangle 89">
              <a:extLst>
                <a:ext uri="{FF2B5EF4-FFF2-40B4-BE49-F238E27FC236}">
                  <a16:creationId xmlns:a16="http://schemas.microsoft.com/office/drawing/2014/main" id="{8B0AF6B1-C3AC-C476-AE16-287C61A1D75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95" name="Step 1 TItle">
            <a:extLst>
              <a:ext uri="{FF2B5EF4-FFF2-40B4-BE49-F238E27FC236}">
                <a16:creationId xmlns:a16="http://schemas.microsoft.com/office/drawing/2014/main" id="{545F2FD2-44C5-DA9F-8E2B-13D6C03793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06" name="Step 1 Top">
            <a:extLst>
              <a:ext uri="{FF2B5EF4-FFF2-40B4-BE49-F238E27FC236}">
                <a16:creationId xmlns:a16="http://schemas.microsoft.com/office/drawing/2014/main" id="{433B73A7-DB5C-AF5A-B12A-70E655D0C5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4200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Step 1 Bottom">
            <a:extLst>
              <a:ext uri="{FF2B5EF4-FFF2-40B4-BE49-F238E27FC236}">
                <a16:creationId xmlns:a16="http://schemas.microsoft.com/office/drawing/2014/main" id="{C966B391-3BF4-A5FB-4F8A-8B4B546896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199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3" name="Step 2 Title">
            <a:extLst>
              <a:ext uri="{FF2B5EF4-FFF2-40B4-BE49-F238E27FC236}">
                <a16:creationId xmlns:a16="http://schemas.microsoft.com/office/drawing/2014/main" id="{DF1E6E41-3DB3-84EB-984F-CCB9167D56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76898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84" name="Step 2 Top">
            <a:extLst>
              <a:ext uri="{FF2B5EF4-FFF2-40B4-BE49-F238E27FC236}">
                <a16:creationId xmlns:a16="http://schemas.microsoft.com/office/drawing/2014/main" id="{6E6ACE10-8248-C360-0E35-7598E8EC82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898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Step 2 Bottom">
            <a:extLst>
              <a:ext uri="{FF2B5EF4-FFF2-40B4-BE49-F238E27FC236}">
                <a16:creationId xmlns:a16="http://schemas.microsoft.com/office/drawing/2014/main" id="{55D154DF-71A5-D9D3-0756-AA7208899C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76897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6" name="Step 3 Title">
            <a:extLst>
              <a:ext uri="{FF2B5EF4-FFF2-40B4-BE49-F238E27FC236}">
                <a16:creationId xmlns:a16="http://schemas.microsoft.com/office/drawing/2014/main" id="{3BF3353A-2534-A54C-BD30-4DA6ABBA06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9595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87" name="Step 3 Top">
            <a:extLst>
              <a:ext uri="{FF2B5EF4-FFF2-40B4-BE49-F238E27FC236}">
                <a16:creationId xmlns:a16="http://schemas.microsoft.com/office/drawing/2014/main" id="{F8FA69C0-B798-B0EF-B064-997FF774E8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969595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9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88" name="Step 3 Bottom">
            <a:extLst>
              <a:ext uri="{FF2B5EF4-FFF2-40B4-BE49-F238E27FC236}">
                <a16:creationId xmlns:a16="http://schemas.microsoft.com/office/drawing/2014/main" id="{FFA3E6BA-ECB6-F78C-CF22-7B05706020E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69595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5" name="Step 4 Title">
            <a:extLst>
              <a:ext uri="{FF2B5EF4-FFF2-40B4-BE49-F238E27FC236}">
                <a16:creationId xmlns:a16="http://schemas.microsoft.com/office/drawing/2014/main" id="{4411A19D-5600-3582-7891-BEECA6B3C92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9595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6" name="Step 4 Top">
            <a:extLst>
              <a:ext uri="{FF2B5EF4-FFF2-40B4-BE49-F238E27FC236}">
                <a16:creationId xmlns:a16="http://schemas.microsoft.com/office/drawing/2014/main" id="{E6756EC6-5C62-CCBD-6970-540F4E463C6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69595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7" name="Step 4 Bottom">
            <a:extLst>
              <a:ext uri="{FF2B5EF4-FFF2-40B4-BE49-F238E27FC236}">
                <a16:creationId xmlns:a16="http://schemas.microsoft.com/office/drawing/2014/main" id="{56520A8E-9E5D-0840-1CB1-35762F47BF5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69595" y="5696772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2" name="Step 5 Title">
            <a:extLst>
              <a:ext uri="{FF2B5EF4-FFF2-40B4-BE49-F238E27FC236}">
                <a16:creationId xmlns:a16="http://schemas.microsoft.com/office/drawing/2014/main" id="{D8F51403-DA8F-C60A-932D-8B8817FDA7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76898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3" name="Step 5 Top">
            <a:extLst>
              <a:ext uri="{FF2B5EF4-FFF2-40B4-BE49-F238E27FC236}">
                <a16:creationId xmlns:a16="http://schemas.microsoft.com/office/drawing/2014/main" id="{1D287AE8-D07F-849B-E6F1-1AC629E8FB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76898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4" name="Step 5 Bottom">
            <a:extLst>
              <a:ext uri="{FF2B5EF4-FFF2-40B4-BE49-F238E27FC236}">
                <a16:creationId xmlns:a16="http://schemas.microsoft.com/office/drawing/2014/main" id="{D79AB424-C959-FD9F-0942-4B657234F22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76897" y="56810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9" name="Step 6 Title">
            <a:extLst>
              <a:ext uri="{FF2B5EF4-FFF2-40B4-BE49-F238E27FC236}">
                <a16:creationId xmlns:a16="http://schemas.microsoft.com/office/drawing/2014/main" id="{E07EBCA7-C1BD-E0AD-6403-14224CB1B5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200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0" name="Step 6 Top">
            <a:extLst>
              <a:ext uri="{FF2B5EF4-FFF2-40B4-BE49-F238E27FC236}">
                <a16:creationId xmlns:a16="http://schemas.microsoft.com/office/drawing/2014/main" id="{880DDDC9-1973-AB6B-84B0-8402F7E57DD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4200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Step 6 Bottom">
            <a:extLst>
              <a:ext uri="{FF2B5EF4-FFF2-40B4-BE49-F238E27FC236}">
                <a16:creationId xmlns:a16="http://schemas.microsoft.com/office/drawing/2014/main" id="{779BA1D8-105C-B66F-63AF-84DC7F62245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4200" y="56810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" name="Footnote">
            <a:extLst>
              <a:ext uri="{FF2B5EF4-FFF2-40B4-BE49-F238E27FC236}">
                <a16:creationId xmlns:a16="http://schemas.microsoft.com/office/drawing/2014/main" id="{31EB8337-5CD4-C7D9-AFCA-89AFAC81CFF8}"/>
              </a:ext>
            </a:extLst>
          </p:cNvPr>
          <p:cNvSpPr txBox="1">
            <a:spLocks/>
          </p:cNvSpPr>
          <p:nvPr userDrawn="1"/>
        </p:nvSpPr>
        <p:spPr>
          <a:xfrm>
            <a:off x="653131" y="6406129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aseline="30000" noProof="0" dirty="0"/>
              <a:t>1</a:t>
            </a:r>
            <a:r>
              <a:rPr lang="en-US" noProof="0" dirty="0"/>
              <a:t>Access M365 Copilot Chat at </a:t>
            </a:r>
            <a:r>
              <a:rPr lang="en-US" noProof="0" dirty="0">
                <a:hlinkClick r:id="rId2"/>
              </a:rPr>
              <a:t>m365copilot.com </a:t>
            </a:r>
            <a:r>
              <a:rPr lang="en-US" noProof="0" dirty="0"/>
              <a:t>or the Microsoft 365 Copilot Chat mobile app and set toggle to “Web”.</a:t>
            </a:r>
          </a:p>
          <a:p>
            <a:r>
              <a:rPr lang="en-US" baseline="30000" noProof="0" dirty="0"/>
              <a:t>2</a:t>
            </a:r>
            <a:r>
              <a:rPr lang="en-US" noProof="0" dirty="0"/>
              <a:t>Access M365 Copilot Chat at </a:t>
            </a:r>
            <a:r>
              <a:rPr lang="en-US" noProof="0" dirty="0">
                <a:hlinkClick r:id="rId2"/>
              </a:rPr>
              <a:t>m365copilot.com</a:t>
            </a:r>
            <a:r>
              <a:rPr lang="en-US" noProof="0" dirty="0"/>
              <a:t>, the Microsoft 365 Copilot Chat mobile app, or the M365 Copilot Chat app in Teams, and set toggle to “Work”.</a:t>
            </a:r>
          </a:p>
          <a:p>
            <a:r>
              <a:rPr lang="en-US" baseline="30000" noProof="0" dirty="0"/>
              <a:t>3</a:t>
            </a:r>
            <a:r>
              <a:rPr lang="en-US" noProof="0" dirty="0"/>
              <a:t>AI Agents allow Copilot to access your organization-specific apps. In the past this would have required an API call to get data from a system of record.</a:t>
            </a:r>
          </a:p>
          <a:p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</p:spTree>
    <p:extLst>
      <p:ext uri="{BB962C8B-B14F-4D97-AF65-F5344CB8AC3E}">
        <p14:creationId xmlns:p14="http://schemas.microsoft.com/office/powerpoint/2010/main" val="36911182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92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9" r:id="rId7"/>
    <p:sldLayoutId id="2147483670" r:id="rId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hyperlink" Target="https://support.microsoft.com/en-us/topic/get-started-with-word-excel-and-powerpoint-agents-in-microsoft-365-copilot-frontier-76691f5e-bb19-4029-a34d-33a00e0a0c4f" TargetMode="Externa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9.svg"/><Relationship Id="rId9" Type="http://schemas.openxmlformats.org/officeDocument/2006/relationships/hyperlink" Target="https://support.microsoft.com/en-us/topic/overview-of-microsoft-365-chat-preview-5b00a52d-7296-48ee-b938-b95b7209f737" TargetMode="External"/><Relationship Id="rId1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9885B08-8C28-64AE-2815-DFF2047BC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87766"/>
            <a:ext cx="5672544" cy="526298"/>
          </a:xfrm>
        </p:spPr>
        <p:txBody>
          <a:bodyPr/>
          <a:lstStyle/>
          <a:p>
            <a:r>
              <a:rPr lang="en-US" noProof="0" dirty="0"/>
              <a:t>A day in the life of an Operations PM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9C5A6832-8561-C02B-AB1F-4A81251F7DD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430234" y="521099"/>
            <a:ext cx="1456966" cy="175614"/>
          </a:xfrm>
        </p:spPr>
        <p:txBody>
          <a:bodyPr/>
          <a:lstStyle/>
          <a:p>
            <a:r>
              <a:rPr lang="en-US" noProof="0" dirty="0"/>
              <a:t>Buy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4CC5EFC-53FA-E97A-EE8E-CC1D57246F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19107" y="521099"/>
            <a:ext cx="3599821" cy="169277"/>
          </a:xfrm>
        </p:spPr>
        <p:txBody>
          <a:bodyPr/>
          <a:lstStyle/>
          <a:p>
            <a:r>
              <a:rPr lang="en-US" noProof="0" dirty="0"/>
              <a:t>Microsoft 365 Copilot</a:t>
            </a:r>
          </a:p>
        </p:txBody>
      </p:sp>
      <p:sp>
        <p:nvSpPr>
          <p:cNvPr id="80" name="Text Placeholder 39">
            <a:extLst>
              <a:ext uri="{FF2B5EF4-FFF2-40B4-BE49-F238E27FC236}">
                <a16:creationId xmlns:a16="http://schemas.microsoft.com/office/drawing/2014/main" id="{37752782-D1E1-DDB9-0F0C-F26B3B0E9A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1684713"/>
            <a:ext cx="2808000" cy="345600"/>
          </a:xfrm>
        </p:spPr>
        <p:txBody>
          <a:bodyPr/>
          <a:lstStyle/>
          <a:p>
            <a:r>
              <a:rPr lang="en-US" noProof="0" dirty="0"/>
              <a:t>8:00 am – Catch up</a:t>
            </a:r>
          </a:p>
        </p:txBody>
      </p:sp>
      <p:sp>
        <p:nvSpPr>
          <p:cNvPr id="81" name="Text Placeholder 40">
            <a:extLst>
              <a:ext uri="{FF2B5EF4-FFF2-40B4-BE49-F238E27FC236}">
                <a16:creationId xmlns:a16="http://schemas.microsoft.com/office/drawing/2014/main" id="{8A752CF0-BD41-36B0-31BE-57FD35F113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4200" y="2128438"/>
            <a:ext cx="2808000" cy="626701"/>
          </a:xfrm>
        </p:spPr>
        <p:txBody>
          <a:bodyPr/>
          <a:lstStyle/>
          <a:p>
            <a:r>
              <a:rPr lang="en-US" noProof="0" dirty="0"/>
              <a:t>Cassandra, an Operations PM, uses Copilot to summarize her emails and Teams messages from overnight and draft responses to urgent items leveraging the drafting feature.</a:t>
            </a:r>
          </a:p>
        </p:txBody>
      </p:sp>
      <p:sp>
        <p:nvSpPr>
          <p:cNvPr id="83" name="Text Placeholder 41">
            <a:extLst>
              <a:ext uri="{FF2B5EF4-FFF2-40B4-BE49-F238E27FC236}">
                <a16:creationId xmlns:a16="http://schemas.microsoft.com/office/drawing/2014/main" id="{8C619B1A-E24A-CDE8-084D-8CF4BC277A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200" y="3304510"/>
            <a:ext cx="2808000" cy="626701"/>
          </a:xfrm>
        </p:spPr>
        <p:txBody>
          <a:bodyPr>
            <a:normAutofit/>
          </a:bodyPr>
          <a:lstStyle/>
          <a:p>
            <a:r>
              <a:rPr lang="en-US" noProof="0" dirty="0"/>
              <a:t>Sample prompt: </a:t>
            </a:r>
            <a:r>
              <a:rPr lang="en-US" noProof="0" dirty="0">
                <a:latin typeface="+mj-lt"/>
              </a:rPr>
              <a:t>Summarize</a:t>
            </a:r>
            <a:r>
              <a:rPr lang="en-US" noProof="0" dirty="0"/>
              <a:t> all the emails and Teams chats in the past day, highlighting the primary asks and open items.</a:t>
            </a:r>
          </a:p>
        </p:txBody>
      </p:sp>
      <p:sp>
        <p:nvSpPr>
          <p:cNvPr id="84" name="Text Placeholder 42">
            <a:extLst>
              <a:ext uri="{FF2B5EF4-FFF2-40B4-BE49-F238E27FC236}">
                <a16:creationId xmlns:a16="http://schemas.microsoft.com/office/drawing/2014/main" id="{822D9648-7722-113D-7BC7-9AE338E793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76898" y="1684713"/>
            <a:ext cx="2808000" cy="345600"/>
          </a:xfrm>
        </p:spPr>
        <p:txBody>
          <a:bodyPr/>
          <a:lstStyle/>
          <a:p>
            <a:r>
              <a:rPr lang="en-US" noProof="0" dirty="0"/>
              <a:t>8:15 am – Prepare for a meeting</a:t>
            </a:r>
          </a:p>
        </p:txBody>
      </p:sp>
      <p:sp>
        <p:nvSpPr>
          <p:cNvPr id="85" name="Text Placeholder 43">
            <a:extLst>
              <a:ext uri="{FF2B5EF4-FFF2-40B4-BE49-F238E27FC236}">
                <a16:creationId xmlns:a16="http://schemas.microsoft.com/office/drawing/2014/main" id="{9E423F75-C710-C0C6-65C0-839039EF695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898" y="2128438"/>
            <a:ext cx="2808000" cy="626701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noProof="0" dirty="0"/>
              <a:t>To make sure she is ready for her meeting, she uses Copilot to search for information on the project looking across past emails, meetings, files, internal, and external articles. </a:t>
            </a:r>
          </a:p>
        </p:txBody>
      </p:sp>
      <p:sp>
        <p:nvSpPr>
          <p:cNvPr id="86" name="Text Placeholder 44">
            <a:extLst>
              <a:ext uri="{FF2B5EF4-FFF2-40B4-BE49-F238E27FC236}">
                <a16:creationId xmlns:a16="http://schemas.microsoft.com/office/drawing/2014/main" id="{04B9F702-6659-B0DC-EEFF-1E4506C27E1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76898" y="3304510"/>
            <a:ext cx="2808000" cy="626701"/>
          </a:xfrm>
        </p:spPr>
        <p:txBody>
          <a:bodyPr/>
          <a:lstStyle/>
          <a:p>
            <a:r>
              <a:rPr lang="en-US" noProof="0" dirty="0"/>
              <a:t>Sample prompt: </a:t>
            </a:r>
            <a:r>
              <a:rPr lang="en-US" dirty="0">
                <a:latin typeface="+mj-lt"/>
              </a:rPr>
              <a:t>Find information </a:t>
            </a:r>
            <a:r>
              <a:rPr lang="en-US" noProof="0" dirty="0"/>
              <a:t>on [project x].</a:t>
            </a:r>
          </a:p>
        </p:txBody>
      </p:sp>
      <p:sp>
        <p:nvSpPr>
          <p:cNvPr id="87" name="Text Placeholder 45">
            <a:extLst>
              <a:ext uri="{FF2B5EF4-FFF2-40B4-BE49-F238E27FC236}">
                <a16:creationId xmlns:a16="http://schemas.microsoft.com/office/drawing/2014/main" id="{6FE6C8E4-0124-EBE0-16BC-F8E71535836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69595" y="1684713"/>
            <a:ext cx="2808000" cy="345600"/>
          </a:xfrm>
        </p:spPr>
        <p:txBody>
          <a:bodyPr/>
          <a:lstStyle/>
          <a:p>
            <a:r>
              <a:rPr lang="en-US" noProof="0" dirty="0"/>
              <a:t>9:00 am – Recap a meeting</a:t>
            </a:r>
          </a:p>
        </p:txBody>
      </p:sp>
      <p:sp>
        <p:nvSpPr>
          <p:cNvPr id="88" name="Text Placeholder 46">
            <a:extLst>
              <a:ext uri="{FF2B5EF4-FFF2-40B4-BE49-F238E27FC236}">
                <a16:creationId xmlns:a16="http://schemas.microsoft.com/office/drawing/2014/main" id="{DCB888D8-CA0C-4C15-C199-781EF762708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969595" y="2128438"/>
            <a:ext cx="2808000" cy="626701"/>
          </a:xfrm>
        </p:spPr>
        <p:txBody>
          <a:bodyPr/>
          <a:lstStyle/>
          <a:p>
            <a:r>
              <a:rPr lang="en-US" noProof="0" dirty="0"/>
              <a:t>To focus on the meeting instead of taking notes, Cassandra uses the transcribe feature during the project team meeting to capture a summary of the conversation and key actions.</a:t>
            </a:r>
          </a:p>
        </p:txBody>
      </p:sp>
      <p:sp>
        <p:nvSpPr>
          <p:cNvPr id="89" name="Text Placeholder 47">
            <a:extLst>
              <a:ext uri="{FF2B5EF4-FFF2-40B4-BE49-F238E27FC236}">
                <a16:creationId xmlns:a16="http://schemas.microsoft.com/office/drawing/2014/main" id="{8F1F7389-07F7-CDDF-908B-F75B1D6831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69595" y="3304510"/>
            <a:ext cx="2808000" cy="626701"/>
          </a:xfrm>
        </p:spPr>
        <p:txBody>
          <a:bodyPr/>
          <a:lstStyle/>
          <a:p>
            <a:r>
              <a:rPr lang="en-US" noProof="0" dirty="0"/>
              <a:t>Sample prompt: </a:t>
            </a:r>
            <a:r>
              <a:rPr lang="en-US" dirty="0">
                <a:latin typeface="+mj-lt"/>
              </a:rPr>
              <a:t>Summarize key discussion points</a:t>
            </a:r>
            <a:r>
              <a:rPr lang="en-US" noProof="0" dirty="0"/>
              <a:t>. Identify agreed-upon next steps.</a:t>
            </a:r>
          </a:p>
        </p:txBody>
      </p:sp>
      <p:sp>
        <p:nvSpPr>
          <p:cNvPr id="97" name="Text Placeholder 54">
            <a:extLst>
              <a:ext uri="{FF2B5EF4-FFF2-40B4-BE49-F238E27FC236}">
                <a16:creationId xmlns:a16="http://schemas.microsoft.com/office/drawing/2014/main" id="{233C8F14-D3D4-B516-1D9B-0B4AB18982C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969595" y="4137995"/>
            <a:ext cx="2808000" cy="345600"/>
          </a:xfrm>
        </p:spPr>
        <p:txBody>
          <a:bodyPr/>
          <a:lstStyle/>
          <a:p>
            <a:r>
              <a:rPr lang="en-US" noProof="0" dirty="0"/>
              <a:t>11:00 am – Analyze data</a:t>
            </a:r>
          </a:p>
        </p:txBody>
      </p:sp>
      <p:sp>
        <p:nvSpPr>
          <p:cNvPr id="98" name="Text Placeholder 58">
            <a:extLst>
              <a:ext uri="{FF2B5EF4-FFF2-40B4-BE49-F238E27FC236}">
                <a16:creationId xmlns:a16="http://schemas.microsoft.com/office/drawing/2014/main" id="{C21358F8-DFF6-4CC1-365E-95D1817816D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69595" y="4584616"/>
            <a:ext cx="2808000" cy="626701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noProof="0" dirty="0"/>
              <a:t>Following the meeting, she utilizes </a:t>
            </a:r>
            <a:r>
              <a:rPr lang="en-US" dirty="0"/>
              <a:t>Agent Mode</a:t>
            </a:r>
            <a:r>
              <a:rPr lang="en-US" noProof="0" dirty="0"/>
              <a:t> in Excel to review and analyze the project data and generate reports. She shares key insights and meeting actions to all the attendees.</a:t>
            </a:r>
          </a:p>
        </p:txBody>
      </p:sp>
      <p:sp>
        <p:nvSpPr>
          <p:cNvPr id="99" name="Text Placeholder 59">
            <a:extLst>
              <a:ext uri="{FF2B5EF4-FFF2-40B4-BE49-F238E27FC236}">
                <a16:creationId xmlns:a16="http://schemas.microsoft.com/office/drawing/2014/main" id="{42FEA13A-41E2-E0BC-2704-0C32AA695D2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69595" y="5681038"/>
            <a:ext cx="2808000" cy="626701"/>
          </a:xfrm>
        </p:spPr>
        <p:txBody>
          <a:bodyPr/>
          <a:lstStyle/>
          <a:p>
            <a:r>
              <a:rPr lang="en-US" noProof="0" dirty="0"/>
              <a:t>Sample prompt: </a:t>
            </a:r>
            <a:r>
              <a:rPr lang="en-US" dirty="0">
                <a:latin typeface="+mj-lt"/>
              </a:rPr>
              <a:t>Suggest formulas </a:t>
            </a:r>
            <a:r>
              <a:rPr lang="en-US" noProof="0" dirty="0"/>
              <a:t>for this column. Show insights in charts.</a:t>
            </a:r>
          </a:p>
        </p:txBody>
      </p:sp>
      <p:sp>
        <p:nvSpPr>
          <p:cNvPr id="94" name="Text Placeholder 51">
            <a:extLst>
              <a:ext uri="{FF2B5EF4-FFF2-40B4-BE49-F238E27FC236}">
                <a16:creationId xmlns:a16="http://schemas.microsoft.com/office/drawing/2014/main" id="{07C20293-86E5-70F7-5647-1895349804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76898" y="4137995"/>
            <a:ext cx="2808000" cy="345600"/>
          </a:xfrm>
        </p:spPr>
        <p:txBody>
          <a:bodyPr/>
          <a:lstStyle/>
          <a:p>
            <a:r>
              <a:rPr lang="en-US" noProof="0" dirty="0"/>
              <a:t>2:00 pm – Get creative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3A01F10F-C86B-4609-F9C9-CE02B5208C6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76898" y="4584616"/>
            <a:ext cx="2808000" cy="626701"/>
          </a:xfrm>
        </p:spPr>
        <p:txBody>
          <a:bodyPr/>
          <a:lstStyle/>
          <a:p>
            <a:r>
              <a:rPr lang="en-US" noProof="0" dirty="0"/>
              <a:t>Cassandra joins her colleagues to brainstorm the change management and readiness plan for an upcoming project using Copilot in Whiteboard to capture key project needs.</a:t>
            </a:r>
          </a:p>
        </p:txBody>
      </p:sp>
      <p:sp>
        <p:nvSpPr>
          <p:cNvPr id="96" name="Text Placeholder 53">
            <a:extLst>
              <a:ext uri="{FF2B5EF4-FFF2-40B4-BE49-F238E27FC236}">
                <a16:creationId xmlns:a16="http://schemas.microsoft.com/office/drawing/2014/main" id="{4B9F034D-CD51-7BF2-43E4-20C269BE814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76898" y="5681038"/>
            <a:ext cx="2808000" cy="626701"/>
          </a:xfrm>
        </p:spPr>
        <p:txBody>
          <a:bodyPr/>
          <a:lstStyle/>
          <a:p>
            <a:r>
              <a:rPr lang="en-US" noProof="0" dirty="0"/>
              <a:t>Sample prompt: </a:t>
            </a:r>
            <a:r>
              <a:rPr lang="en-US" dirty="0">
                <a:latin typeface="+mj-lt"/>
              </a:rPr>
              <a:t>Organize thoughts </a:t>
            </a:r>
            <a:r>
              <a:rPr lang="en-US" noProof="0" dirty="0"/>
              <a:t>into logical categories and simplify complex projects for better collaboration.</a:t>
            </a:r>
          </a:p>
        </p:txBody>
      </p:sp>
      <p:sp>
        <p:nvSpPr>
          <p:cNvPr id="91" name="Text Placeholder 48">
            <a:extLst>
              <a:ext uri="{FF2B5EF4-FFF2-40B4-BE49-F238E27FC236}">
                <a16:creationId xmlns:a16="http://schemas.microsoft.com/office/drawing/2014/main" id="{9B78622A-B4DD-9BE6-EC06-65997AF0025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4200" y="4137995"/>
            <a:ext cx="2808000" cy="345600"/>
          </a:xfrm>
        </p:spPr>
        <p:txBody>
          <a:bodyPr/>
          <a:lstStyle/>
          <a:p>
            <a:r>
              <a:rPr lang="en-US" noProof="0" dirty="0"/>
              <a:t>4:00 pm – Create a presentation</a:t>
            </a:r>
          </a:p>
        </p:txBody>
      </p:sp>
      <p:sp>
        <p:nvSpPr>
          <p:cNvPr id="92" name="Text Placeholder 49">
            <a:extLst>
              <a:ext uri="{FF2B5EF4-FFF2-40B4-BE49-F238E27FC236}">
                <a16:creationId xmlns:a16="http://schemas.microsoft.com/office/drawing/2014/main" id="{90595ADC-10AC-7070-6AAE-5FCFFE3CB46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4200" y="4584616"/>
            <a:ext cx="2808000" cy="626701"/>
          </a:xfrm>
        </p:spPr>
        <p:txBody>
          <a:bodyPr/>
          <a:lstStyle/>
          <a:p>
            <a:r>
              <a:rPr lang="en-US" noProof="0" dirty="0"/>
              <a:t>Cassandra prepares a</a:t>
            </a:r>
            <a:r>
              <a:rPr lang="en-US" dirty="0"/>
              <a:t> PowerPoint</a:t>
            </a:r>
            <a:r>
              <a:rPr lang="en-US" noProof="0" dirty="0"/>
              <a:t> presentation on the readiness plan, using </a:t>
            </a:r>
            <a:r>
              <a:rPr lang="en-US" dirty="0"/>
              <a:t>PowerPoint</a:t>
            </a:r>
            <a:r>
              <a:rPr lang="en-US" noProof="0" dirty="0"/>
              <a:t> Agent to generate the content based on the whiteboarding session.</a:t>
            </a:r>
          </a:p>
        </p:txBody>
      </p:sp>
      <p:sp>
        <p:nvSpPr>
          <p:cNvPr id="93" name="Text Placeholder 50">
            <a:extLst>
              <a:ext uri="{FF2B5EF4-FFF2-40B4-BE49-F238E27FC236}">
                <a16:creationId xmlns:a16="http://schemas.microsoft.com/office/drawing/2014/main" id="{C46ED627-CF97-AA11-E412-7D73A0D4E94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4200" y="5681038"/>
            <a:ext cx="2808000" cy="626701"/>
          </a:xfrm>
        </p:spPr>
        <p:txBody>
          <a:bodyPr/>
          <a:lstStyle/>
          <a:p>
            <a:r>
              <a:rPr lang="en-US" noProof="0" dirty="0"/>
              <a:t>Sample prompt: </a:t>
            </a:r>
            <a:r>
              <a:rPr lang="en-US" dirty="0">
                <a:latin typeface="+mj-lt"/>
              </a:rPr>
              <a:t>Create a new presentation </a:t>
            </a:r>
            <a:r>
              <a:rPr lang="en-US" noProof="0" dirty="0"/>
              <a:t>from this Word file. Change the layout of this slide.</a:t>
            </a:r>
          </a:p>
          <a:p>
            <a:r>
              <a:rPr lang="en-US" u="sng" dirty="0">
                <a:hlinkClick r:id="rId2"/>
              </a:rPr>
              <a:t>Get started with Word, Excel, and PowerPoint Agents</a:t>
            </a:r>
            <a:endParaRPr lang="en-US" noProof="0" dirty="0"/>
          </a:p>
        </p:txBody>
      </p:sp>
      <p:sp>
        <p:nvSpPr>
          <p:cNvPr id="103" name="Rectangle: Rounded Corners 6">
            <a:extLst>
              <a:ext uri="{FF2B5EF4-FFF2-40B4-BE49-F238E27FC236}">
                <a16:creationId xmlns:a16="http://schemas.microsoft.com/office/drawing/2014/main" id="{EC3E7775-A1FA-825B-F96D-45DB54F8A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6356" y="1134767"/>
            <a:ext cx="659514" cy="216000"/>
          </a:xfrm>
          <a:prstGeom prst="roundRect">
            <a:avLst>
              <a:gd name="adj" fmla="val 50000"/>
            </a:avLst>
          </a:prstGeom>
          <a:solidFill>
            <a:srgbClr val="FFA38B"/>
          </a:solidFill>
          <a:ln w="12700">
            <a:solidFill>
              <a:srgbClr val="FFA38B"/>
            </a:solidFill>
            <a:headEnd type="none" w="med" len="med"/>
            <a:tailEnd type="none" w="med" len="med"/>
          </a:ln>
          <a:effectLst>
            <a:outerShdw blurRad="63500" dist="63500" dir="2700000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Benefits</a:t>
            </a:r>
          </a:p>
        </p:txBody>
      </p:sp>
      <p:sp>
        <p:nvSpPr>
          <p:cNvPr id="104" name="Rectangle: Rounded Corners 6">
            <a:extLst>
              <a:ext uri="{FF2B5EF4-FFF2-40B4-BE49-F238E27FC236}">
                <a16:creationId xmlns:a16="http://schemas.microsoft.com/office/drawing/2014/main" id="{16B3DCCD-357C-C64E-97A3-53C1728E8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286540" y="1134767"/>
            <a:ext cx="1571031" cy="21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A38B"/>
            </a:solidFill>
            <a:headEnd type="none" w="med" len="med"/>
            <a:tailEnd type="none" w="med" len="med"/>
          </a:ln>
          <a:effectLst>
            <a:outerShdw blurRad="63500" dist="63500" dir="2700000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18288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3391D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~1 hour saved per week</a:t>
            </a:r>
          </a:p>
        </p:txBody>
      </p:sp>
      <p:pic>
        <p:nvPicPr>
          <p:cNvPr id="105" name="Graphic 104">
            <a:extLst>
              <a:ext uri="{FF2B5EF4-FFF2-40B4-BE49-F238E27FC236}">
                <a16:creationId xmlns:a16="http://schemas.microsoft.com/office/drawing/2014/main" id="{4102AC04-B018-D580-5639-461D533968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6270" y="1170767"/>
            <a:ext cx="144000" cy="144000"/>
          </a:xfrm>
          <a:prstGeom prst="rect">
            <a:avLst/>
          </a:prstGeom>
        </p:spPr>
      </p:pic>
      <p:sp>
        <p:nvSpPr>
          <p:cNvPr id="106" name="Rectangle: Rounded Corners 6">
            <a:extLst>
              <a:ext uri="{FF2B5EF4-FFF2-40B4-BE49-F238E27FC236}">
                <a16:creationId xmlns:a16="http://schemas.microsoft.com/office/drawing/2014/main" id="{DDE20689-F246-4D99-6F85-7223CC67B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908241" y="1134767"/>
            <a:ext cx="3004879" cy="21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A38B"/>
            </a:solidFill>
            <a:headEnd type="none" w="med" len="med"/>
            <a:tailEnd type="none" w="med" len="med"/>
          </a:ln>
          <a:effectLst>
            <a:outerShdw blurRad="63500" dist="63500" dir="2700000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18288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3391D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Areas of investment: higher priority projects</a:t>
            </a:r>
          </a:p>
        </p:txBody>
      </p:sp>
      <p:pic>
        <p:nvPicPr>
          <p:cNvPr id="107" name="Graphic 106">
            <a:extLst>
              <a:ext uri="{FF2B5EF4-FFF2-40B4-BE49-F238E27FC236}">
                <a16:creationId xmlns:a16="http://schemas.microsoft.com/office/drawing/2014/main" id="{B438696C-ECE0-B9C0-B8B1-EA46C090955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8076" y="1170767"/>
            <a:ext cx="144000" cy="144000"/>
          </a:xfrm>
          <a:prstGeom prst="rect">
            <a:avLst/>
          </a:prstGeom>
        </p:spPr>
      </p:pic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317F106-D256-1740-8931-661C709BC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68583" y="1134767"/>
            <a:ext cx="2325078" cy="21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A38B"/>
            </a:solidFill>
            <a:headEnd type="none" w="med" len="med"/>
            <a:tailEnd type="none" w="med" len="med"/>
          </a:ln>
          <a:effectLst>
            <a:outerShdw blurRad="63500" dist="63500" dir="2700000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18288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3391D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Better communication with colleagues</a:t>
            </a:r>
          </a:p>
        </p:txBody>
      </p:sp>
      <p:pic>
        <p:nvPicPr>
          <p:cNvPr id="109" name="Graphic 108">
            <a:extLst>
              <a:ext uri="{FF2B5EF4-FFF2-40B4-BE49-F238E27FC236}">
                <a16:creationId xmlns:a16="http://schemas.microsoft.com/office/drawing/2014/main" id="{45F64808-0118-F4E5-E9D9-73027618654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5716" y="1170767"/>
            <a:ext cx="144000" cy="144000"/>
          </a:xfrm>
          <a:prstGeom prst="rect">
            <a:avLst/>
          </a:prstGeom>
        </p:spPr>
      </p:pic>
      <p:grpSp>
        <p:nvGrpSpPr>
          <p:cNvPr id="194" name="Group 193">
            <a:extLst>
              <a:ext uri="{FF2B5EF4-FFF2-40B4-BE49-F238E27FC236}">
                <a16:creationId xmlns:a16="http://schemas.microsoft.com/office/drawing/2014/main" id="{910010CF-626B-D55D-8F9A-9A453E22F78D}"/>
              </a:ext>
            </a:extLst>
          </p:cNvPr>
          <p:cNvGrpSpPr/>
          <p:nvPr/>
        </p:nvGrpSpPr>
        <p:grpSpPr>
          <a:xfrm>
            <a:off x="584200" y="2850537"/>
            <a:ext cx="2351135" cy="360000"/>
            <a:chOff x="588263" y="1217924"/>
            <a:chExt cx="2351135" cy="360000"/>
          </a:xfrm>
        </p:grpSpPr>
        <p:pic>
          <p:nvPicPr>
            <p:cNvPr id="195" name="Picture 194" descr="Zip Co logo SVG free download, id: 101874 - Brandlogos.net">
              <a:hlinkClick r:id="rId9"/>
              <a:extLst>
                <a:ext uri="{FF2B5EF4-FFF2-40B4-BE49-F238E27FC236}">
                  <a16:creationId xmlns:a16="http://schemas.microsoft.com/office/drawing/2014/main" id="{09974042-0D68-180A-FF19-56F46918F2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43278" t="-53646" r="-43278" b="-53646"/>
            <a:stretch/>
          </p:blipFill>
          <p:spPr bwMode="auto">
            <a:xfrm>
              <a:off x="588263" y="1217924"/>
              <a:ext cx="360000" cy="360000"/>
            </a:xfrm>
            <a:prstGeom prst="ellipse">
              <a:avLst/>
            </a:prstGeom>
            <a:solidFill>
              <a:srgbClr val="FFFFFF"/>
            </a:solidFill>
          </p:spPr>
        </p:pic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1E4AD1BC-5943-101B-834E-310717CE019B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/>
            <p:nvPr/>
          </p:nvSpPr>
          <p:spPr>
            <a:xfrm>
              <a:off x="1047214" y="1320980"/>
              <a:ext cx="1892184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Copilot Chat</a:t>
              </a:r>
              <a:r>
                <a:rPr kumimoji="0" lang="en-US" sz="10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2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DBA15A0F-8D0E-D92B-9328-9A9C9D88CD6C}"/>
              </a:ext>
            </a:extLst>
          </p:cNvPr>
          <p:cNvGrpSpPr/>
          <p:nvPr/>
        </p:nvGrpSpPr>
        <p:grpSpPr>
          <a:xfrm>
            <a:off x="3776663" y="2850537"/>
            <a:ext cx="2351135" cy="360000"/>
            <a:chOff x="588263" y="1217924"/>
            <a:chExt cx="2351135" cy="360000"/>
          </a:xfrm>
        </p:grpSpPr>
        <p:pic>
          <p:nvPicPr>
            <p:cNvPr id="198" name="Picture 197" descr="Zip Co logo SVG free download, id: 101874 - Brandlogos.net">
              <a:hlinkClick r:id="rId9"/>
              <a:extLst>
                <a:ext uri="{FF2B5EF4-FFF2-40B4-BE49-F238E27FC236}">
                  <a16:creationId xmlns:a16="http://schemas.microsoft.com/office/drawing/2014/main" id="{4E9C6693-1D78-B334-572D-3CA234DEF9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43278" t="-53646" r="-43278" b="-53646"/>
            <a:stretch/>
          </p:blipFill>
          <p:spPr bwMode="auto">
            <a:xfrm>
              <a:off x="588263" y="1217924"/>
              <a:ext cx="360000" cy="360000"/>
            </a:xfrm>
            <a:prstGeom prst="ellipse">
              <a:avLst/>
            </a:prstGeom>
            <a:solidFill>
              <a:srgbClr val="FFFFFF"/>
            </a:solidFill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C8632FC9-D3C8-A2B3-F34F-B262D67B4206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/>
            <p:nvPr/>
          </p:nvSpPr>
          <p:spPr>
            <a:xfrm>
              <a:off x="1047214" y="1320981"/>
              <a:ext cx="1892184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Copilot Chat</a:t>
              </a:r>
              <a:r>
                <a:rPr kumimoji="0" lang="en-US" sz="10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2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</p:txBody>
        </p:sp>
      </p:grpSp>
      <p:sp>
        <p:nvSpPr>
          <p:cNvPr id="202" name="TextBox 201">
            <a:extLst>
              <a:ext uri="{FF2B5EF4-FFF2-40B4-BE49-F238E27FC236}">
                <a16:creationId xmlns:a16="http://schemas.microsoft.com/office/drawing/2014/main" id="{319DAE11-F6E6-E799-1E5F-E79F2F58B9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428168" y="2953594"/>
            <a:ext cx="189256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in Teams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1CF66B6-C2AB-9948-D9EF-2B0A6B1C2F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043386" y="5369768"/>
            <a:ext cx="179679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PowerPoint Agent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B9CE40FB-B0D6-A4C5-BC7F-8457FE0C7D7F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987" t="-14987" r="-14987" b="-14987"/>
          <a:stretch/>
        </p:blipFill>
        <p:spPr>
          <a:xfrm>
            <a:off x="3776663" y="5266713"/>
            <a:ext cx="360000" cy="360000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522749B3-06CE-70D3-A8E0-1C8AEA16A2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235614" y="5369769"/>
            <a:ext cx="189218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in Whiteboard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F3258DF-819F-1AEF-E136-2FFC64138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428454" y="5369769"/>
            <a:ext cx="189180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Agent Mode in Excel</a:t>
            </a:r>
            <a:endParaRPr kumimoji="0" lang="en-US" sz="1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6" name="Picture 5" descr="A person wearing glasses and a blue shirt&#10;&#10;AI-generated content may be incorrect.">
            <a:extLst>
              <a:ext uri="{FF2B5EF4-FFF2-40B4-BE49-F238E27FC236}">
                <a16:creationId xmlns:a16="http://schemas.microsoft.com/office/drawing/2014/main" id="{8C5D97C5-7B0C-A09F-4157-9905999155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83212" y="3384215"/>
            <a:ext cx="2408788" cy="3473785"/>
          </a:xfrm>
          <a:prstGeom prst="rect">
            <a:avLst/>
          </a:prstGeom>
        </p:spPr>
      </p:pic>
      <p:sp>
        <p:nvSpPr>
          <p:cNvPr id="217" name="TextBox 216">
            <a:extLst>
              <a:ext uri="{FF2B5EF4-FFF2-40B4-BE49-F238E27FC236}">
                <a16:creationId xmlns:a16="http://schemas.microsoft.com/office/drawing/2014/main" id="{0FABACFE-C4B9-862E-7BE0-600FA475F446}"/>
              </a:ext>
            </a:extLst>
          </p:cNvPr>
          <p:cNvSpPr txBox="1"/>
          <p:nvPr/>
        </p:nvSpPr>
        <p:spPr>
          <a:xfrm>
            <a:off x="10269917" y="1684338"/>
            <a:ext cx="175911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Cassandra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is an Operations lead at Contoso.</a:t>
            </a:r>
          </a:p>
        </p:txBody>
      </p:sp>
      <p:pic>
        <p:nvPicPr>
          <p:cNvPr id="218" name="Graphic 217">
            <a:extLst>
              <a:ext uri="{FF2B5EF4-FFF2-40B4-BE49-F238E27FC236}">
                <a16:creationId xmlns:a16="http://schemas.microsoft.com/office/drawing/2014/main" id="{AFD129E8-6B7A-C7D8-11E6-372B709D624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0800000">
            <a:off x="11012078" y="3019490"/>
            <a:ext cx="274790" cy="274790"/>
          </a:xfrm>
          <a:prstGeom prst="rect">
            <a:avLst/>
          </a:prstGeom>
        </p:spPr>
      </p:pic>
      <p:pic>
        <p:nvPicPr>
          <p:cNvPr id="3" name="Picture 2" descr="Excel logo">
            <a:extLst>
              <a:ext uri="{FF2B5EF4-FFF2-40B4-BE49-F238E27FC236}">
                <a16:creationId xmlns:a16="http://schemas.microsoft.com/office/drawing/2014/main" id="{F5D3EB64-BE13-A4DB-9C8A-B5F05D2C761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2094" y="5288061"/>
            <a:ext cx="254134" cy="254134"/>
          </a:xfrm>
          <a:prstGeom prst="ellipse">
            <a:avLst/>
          </a:prstGeom>
          <a:solidFill>
            <a:schemeClr val="bg1"/>
          </a:solidFill>
        </p:spPr>
      </p:pic>
      <p:pic>
        <p:nvPicPr>
          <p:cNvPr id="4" name="Picture 3" descr="PowerPoint logo">
            <a:extLst>
              <a:ext uri="{FF2B5EF4-FFF2-40B4-BE49-F238E27FC236}">
                <a16:creationId xmlns:a16="http://schemas.microsoft.com/office/drawing/2014/main" id="{A7AEF8CB-9DC6-1A36-DBCC-B5F9E385AE0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984" y="5282540"/>
            <a:ext cx="265176" cy="265176"/>
          </a:xfrm>
          <a:prstGeom prst="rect">
            <a:avLst/>
          </a:prstGeom>
        </p:spPr>
      </p:pic>
      <p:pic>
        <p:nvPicPr>
          <p:cNvPr id="2" name="Picture 1" descr="Teams logo">
            <a:extLst>
              <a:ext uri="{FF2B5EF4-FFF2-40B4-BE49-F238E27FC236}">
                <a16:creationId xmlns:a16="http://schemas.microsoft.com/office/drawing/2014/main" id="{D518E064-06B2-A3E0-92F6-9ECD565665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25837" y="2897236"/>
            <a:ext cx="265176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544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 16x9">
  <a:themeElements>
    <a:clrScheme name="Custom 7">
      <a:dk1>
        <a:srgbClr val="000000"/>
      </a:dk1>
      <a:lt1>
        <a:srgbClr val="FFFFFF"/>
      </a:lt1>
      <a:dk2>
        <a:srgbClr val="463668"/>
      </a:dk2>
      <a:lt2>
        <a:srgbClr val="E8E6DF"/>
      </a:lt2>
      <a:accent1>
        <a:srgbClr val="463668"/>
      </a:accent1>
      <a:accent2>
        <a:srgbClr val="C5B4E3"/>
      </a:accent2>
      <a:accent3>
        <a:srgbClr val="C03BC4"/>
      </a:accent3>
      <a:accent4>
        <a:srgbClr val="8C8279"/>
      </a:accent4>
      <a:accent5>
        <a:srgbClr val="D59ED7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brand template starter - 16x9 v04.potx" id="{4908BB59-E0F9-4262-9337-B2D75939F852}" vid="{C1F6406B-B671-42E9-A581-A06DD50715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371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Segoe UI</vt:lpstr>
      <vt:lpstr>Segoe UI Semibold</vt:lpstr>
      <vt:lpstr>Wingdings</vt:lpstr>
      <vt:lpstr>Light 16x9</vt:lpstr>
      <vt:lpstr>A day in the life of an Operations PM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2026-01-15T22:07:23Z</dcterms:created>
  <dcterms:modified xsi:type="dcterms:W3CDTF">2026-01-16T17:49:29Z</dcterms:modified>
</cp:coreProperties>
</file>