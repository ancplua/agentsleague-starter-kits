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3"/>
  </p:notesMasterIdLst>
  <p:sldIdLst>
    <p:sldId id="53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3EA553-41F0-4ADE-9C17-0B79119E7394}" v="1" dt="2026-01-15T22:01:45.774"/>
    <p1510:client id="{97D9914F-BBC1-4220-BA84-1BBA1DE90E18}" v="221" dt="2026-01-15T01:47:46.5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26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C10360-7F2B-43B7-AE47-3D95E72B02E5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986178-B4BC-4168-845A-05655C68B09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57A88C-D68B-7E43-B6BD-8EAA306090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294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m365copilot.com/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m365copilot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quare photo 2"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spiral&#10;&#10;Description automatically generated">
            <a:extLst>
              <a:ext uri="{FF2B5EF4-FFF2-40B4-BE49-F238E27FC236}">
                <a16:creationId xmlns:a16="http://schemas.microsoft.com/office/drawing/2014/main" id="{361D5F98-BDD8-425B-488B-22D9DCB803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8D8C93-A68F-427F-AC31-AE3104AD11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17984"/>
            <a:ext cx="7758903" cy="615553"/>
          </a:xfrm>
        </p:spPr>
        <p:txBody>
          <a:bodyPr wrap="square" anchor="b" anchorCtr="0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7752752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</a:t>
            </a:r>
          </a:p>
        </p:txBody>
      </p:sp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D4D1E6E7-6980-34C8-5B50-9BC3D2B8E20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381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ky with white clouds&#10;&#10;AI-generated content may be incorrect.">
            <a:extLst>
              <a:ext uri="{FF2B5EF4-FFF2-40B4-BE49-F238E27FC236}">
                <a16:creationId xmlns:a16="http://schemas.microsoft.com/office/drawing/2014/main" id="{D06997A8-9B2A-B93C-F597-79B38162AF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6607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58B1CC-7E89-FC8B-DE61-81B292780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rgbClr val="FFF8F3">
                <a:tint val="45000"/>
                <a:satMod val="400000"/>
              </a:srgbClr>
            </a:duotone>
          </a:blip>
          <a:srcRect t="7440" b="52893"/>
          <a:stretch/>
        </p:blipFill>
        <p:spPr>
          <a:xfrm>
            <a:off x="0" y="0"/>
            <a:ext cx="12191999" cy="6857999"/>
          </a:xfrm>
          <a:prstGeom prst="round2SameRect">
            <a:avLst>
              <a:gd name="adj1" fmla="val 0"/>
              <a:gd name="adj2" fmla="val 0"/>
            </a:avLst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572358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82976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urved object">
            <a:extLst>
              <a:ext uri="{FF2B5EF4-FFF2-40B4-BE49-F238E27FC236}">
                <a16:creationId xmlns:a16="http://schemas.microsoft.com/office/drawing/2014/main" id="{65978E02-7B42-4283-0732-A5ECD04C20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D9B2C81-3582-FD54-9197-2A2E6EA52FF9}"/>
              </a:ext>
            </a:extLst>
          </p:cNvPr>
          <p:cNvSpPr/>
          <p:nvPr userDrawn="1"/>
        </p:nvSpPr>
        <p:spPr bwMode="auto">
          <a:xfrm>
            <a:off x="0" y="0"/>
            <a:ext cx="8586216" cy="6858000"/>
          </a:xfrm>
          <a:prstGeom prst="rect">
            <a:avLst/>
          </a:prstGeom>
          <a:gradFill>
            <a:gsLst>
              <a:gs pos="0">
                <a:srgbClr val="FFF8F3"/>
              </a:gs>
              <a:gs pos="100000">
                <a:srgbClr val="FFF8F3">
                  <a:alpha val="0"/>
                </a:srgbClr>
              </a:gs>
            </a:gsLst>
            <a:lin ang="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60028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07777"/>
          </a:xfrm>
        </p:spPr>
        <p:txBody>
          <a:bodyPr tIns="0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28025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cenario five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4A1448-F8D7-EA0F-E466-136E038AA3F1}"/>
              </a:ext>
            </a:extLst>
          </p:cNvPr>
          <p:cNvCxnSpPr>
            <a:cxnSpLocks/>
          </p:cNvCxnSpPr>
          <p:nvPr userDrawn="1"/>
        </p:nvCxnSpPr>
        <p:spPr>
          <a:xfrm>
            <a:off x="3182889" y="1352539"/>
            <a:ext cx="8339848" cy="0"/>
          </a:xfrm>
          <a:prstGeom prst="line">
            <a:avLst/>
          </a:prstGeom>
          <a:ln w="15875" cap="flat">
            <a:gradFill flip="none" rotWithShape="1">
              <a:gsLst>
                <a:gs pos="0">
                  <a:srgbClr val="0078D4"/>
                </a:gs>
                <a:gs pos="100000">
                  <a:schemeClr val="accent3"/>
                </a:gs>
              </a:gsLst>
              <a:lin ang="16200000" scaled="1"/>
              <a:tileRect/>
            </a:gradFill>
            <a:headEnd type="none" w="lg" len="med"/>
            <a:tailEnd type="none" w="lg" len="med"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6C3234-D3F7-EB91-19FC-3FF3921A6EF7}"/>
              </a:ext>
            </a:extLst>
          </p:cNvPr>
          <p:cNvSpPr>
            <a:spLocks/>
          </p:cNvSpPr>
          <p:nvPr userDrawn="1"/>
        </p:nvSpPr>
        <p:spPr bwMode="auto">
          <a:xfrm>
            <a:off x="2179638" y="304726"/>
            <a:ext cx="4582191" cy="526298"/>
          </a:xfrm>
          <a:prstGeom prst="roundRect">
            <a:avLst/>
          </a:prstGeom>
          <a:solidFill>
            <a:srgbClr val="DDEEF8"/>
          </a:solidFill>
          <a:ln>
            <a:solidFill>
              <a:schemeClr val="bg1"/>
            </a:solidFill>
            <a:headEnd type="none" w="med" len="med"/>
            <a:tailEnd type="none" w="med" len="med"/>
          </a:ln>
          <a:effectLst>
            <a:outerShdw blurRad="254000" algn="ctr" rotWithShape="0">
              <a:schemeClr val="bg1">
                <a:lumMod val="75000"/>
                <a:alpha val="3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1148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489450-2B99-F45D-B0AD-1BD8CA42038B}"/>
              </a:ext>
            </a:extLst>
          </p:cNvPr>
          <p:cNvSpPr txBox="1">
            <a:spLocks/>
          </p:cNvSpPr>
          <p:nvPr userDrawn="1"/>
        </p:nvSpPr>
        <p:spPr>
          <a:xfrm>
            <a:off x="0" y="304726"/>
            <a:ext cx="2431247" cy="526298"/>
          </a:xfrm>
          <a:custGeom>
            <a:avLst/>
            <a:gdLst>
              <a:gd name="connsiteX0" fmla="*/ 1993 w 2431247"/>
              <a:gd name="connsiteY0" fmla="*/ 0 h 526298"/>
              <a:gd name="connsiteX1" fmla="*/ 2338766 w 2431247"/>
              <a:gd name="connsiteY1" fmla="*/ 0 h 526298"/>
              <a:gd name="connsiteX2" fmla="*/ 2431247 w 2431247"/>
              <a:gd name="connsiteY2" fmla="*/ 92481 h 526298"/>
              <a:gd name="connsiteX3" fmla="*/ 2431247 w 2431247"/>
              <a:gd name="connsiteY3" fmla="*/ 433817 h 526298"/>
              <a:gd name="connsiteX4" fmla="*/ 2338766 w 2431247"/>
              <a:gd name="connsiteY4" fmla="*/ 526298 h 526298"/>
              <a:gd name="connsiteX5" fmla="*/ 1993 w 2431247"/>
              <a:gd name="connsiteY5" fmla="*/ 526298 h 526298"/>
              <a:gd name="connsiteX6" fmla="*/ 0 w 2431247"/>
              <a:gd name="connsiteY6" fmla="*/ 525896 h 526298"/>
              <a:gd name="connsiteX7" fmla="*/ 0 w 2431247"/>
              <a:gd name="connsiteY7" fmla="*/ 402 h 526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1247" h="526298">
                <a:moveTo>
                  <a:pt x="1993" y="0"/>
                </a:moveTo>
                <a:lnTo>
                  <a:pt x="2338766" y="0"/>
                </a:lnTo>
                <a:cubicBezTo>
                  <a:pt x="2389842" y="0"/>
                  <a:pt x="2431247" y="41405"/>
                  <a:pt x="2431247" y="92481"/>
                </a:cubicBezTo>
                <a:lnTo>
                  <a:pt x="2431247" y="433817"/>
                </a:lnTo>
                <a:cubicBezTo>
                  <a:pt x="2431247" y="484893"/>
                  <a:pt x="2389842" y="526298"/>
                  <a:pt x="2338766" y="526298"/>
                </a:cubicBezTo>
                <a:lnTo>
                  <a:pt x="1993" y="526298"/>
                </a:lnTo>
                <a:lnTo>
                  <a:pt x="0" y="525896"/>
                </a:lnTo>
                <a:lnTo>
                  <a:pt x="0" y="402"/>
                </a:lnTo>
                <a:close/>
              </a:path>
            </a:pathLst>
          </a:cu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/>
        </p:spPr>
        <p:txBody>
          <a:bodyPr vert="horz" wrap="square" lIns="310896" tIns="0" rIns="0" bIns="0" rtlCol="0" anchor="ctr" anchorCtr="0">
            <a:noAutofit/>
          </a:bodyPr>
          <a:lstStyle>
            <a:lvl1pPr marL="0" marR="0" indent="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200" b="1" i="0" kern="1200" spc="0" baseline="0">
                <a:solidFill>
                  <a:srgbClr val="FFFFFF"/>
                </a:solidFill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 panose="020B0502040204020203" pitchFamily="34" charset="0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71" name="Scenario Level">
            <a:extLst>
              <a:ext uri="{FF2B5EF4-FFF2-40B4-BE49-F238E27FC236}">
                <a16:creationId xmlns:a16="http://schemas.microsoft.com/office/drawing/2014/main" id="{5C914349-B5B3-D703-EE31-78482DD3DAA9}"/>
              </a:ext>
            </a:extLst>
          </p:cNvPr>
          <p:cNvSpPr txBox="1"/>
          <p:nvPr userDrawn="1"/>
        </p:nvSpPr>
        <p:spPr>
          <a:xfrm>
            <a:off x="10895070" y="358721"/>
            <a:ext cx="99224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rPr>
              <a:t>Scenario level:</a:t>
            </a:r>
          </a:p>
        </p:txBody>
      </p:sp>
      <p:sp>
        <p:nvSpPr>
          <p:cNvPr id="73" name="Available with">
            <a:extLst>
              <a:ext uri="{FF2B5EF4-FFF2-40B4-BE49-F238E27FC236}">
                <a16:creationId xmlns:a16="http://schemas.microsoft.com/office/drawing/2014/main" id="{1E59605F-F04E-58C0-102B-28C6AFF01B7D}"/>
              </a:ext>
            </a:extLst>
          </p:cNvPr>
          <p:cNvSpPr txBox="1"/>
          <p:nvPr userDrawn="1"/>
        </p:nvSpPr>
        <p:spPr>
          <a:xfrm>
            <a:off x="9126798" y="358721"/>
            <a:ext cx="99224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rPr>
              <a:t>Available with: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84F79FD-8FB8-5727-A3FB-9193B8AF441D}"/>
              </a:ext>
            </a:extLst>
          </p:cNvPr>
          <p:cNvCxnSpPr/>
          <p:nvPr userDrawn="1"/>
        </p:nvCxnSpPr>
        <p:spPr>
          <a:xfrm>
            <a:off x="10357789" y="358721"/>
            <a:ext cx="0" cy="331655"/>
          </a:xfrm>
          <a:prstGeom prst="line">
            <a:avLst/>
          </a:prstGeom>
          <a:ln>
            <a:solidFill>
              <a:srgbClr val="B1B3B3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CD8F809-3EF5-43AD-9927-8D87766BB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805591" y="1247214"/>
            <a:ext cx="210652" cy="210652"/>
            <a:chOff x="5214995" y="-1168400"/>
            <a:chExt cx="431800" cy="43180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BD95EE76-3BB3-5D96-1162-650D8265E79B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gradFill flip="none" rotWithShape="1">
              <a:gsLst>
                <a:gs pos="60000">
                  <a:srgbClr val="0078D4"/>
                </a:gs>
                <a:gs pos="4000">
                  <a:srgbClr val="C03BC4"/>
                </a:gs>
              </a:gsLst>
              <a:path path="circle">
                <a:fillToRect l="100000" t="100000"/>
              </a:path>
              <a:tileRect r="-100000" b="-100000"/>
            </a:gradFill>
            <a:ln w="15875">
              <a:solidFill>
                <a:schemeClr val="bg1"/>
              </a:solidFill>
            </a:ln>
            <a:effectLst>
              <a:outerShdw blurRad="254000" algn="ctr" rotWithShape="0">
                <a:schemeClr val="bg1">
                  <a:lumMod val="75000"/>
                  <a:alpha val="30000"/>
                </a:schemeClr>
              </a:outerShdw>
            </a:effectLst>
          </p:spPr>
          <p:txBody>
            <a:bodyPr vert="horz" wrap="square" lIns="320040" tIns="0" rIns="0" bIns="0" rtlCol="0" anchor="ctr" anchorCtr="0"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81" name="Rectangle 89">
              <a:extLst>
                <a:ext uri="{FF2B5EF4-FFF2-40B4-BE49-F238E27FC236}">
                  <a16:creationId xmlns:a16="http://schemas.microsoft.com/office/drawing/2014/main" id="{C479534D-98FF-6F65-ECCB-79C6294552EA}"/>
                </a:ext>
              </a:extLst>
            </p:cNvPr>
            <p:cNvSpPr/>
            <p:nvPr/>
          </p:nvSpPr>
          <p:spPr bwMode="auto">
            <a:xfrm rot="2700000">
              <a:off x="5334303" y="-1026795"/>
              <a:ext cx="148589" cy="148589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25400" cap="rnd">
              <a:solidFill>
                <a:schemeClr val="bg1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684A0D0-9EC4-FC0C-B023-76950C80D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689384" y="1247214"/>
            <a:ext cx="210652" cy="210652"/>
            <a:chOff x="5214995" y="-1168400"/>
            <a:chExt cx="431800" cy="431800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82D2312-1888-7E4C-63E7-F0B9A0902E6D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gradFill flip="none" rotWithShape="1">
              <a:gsLst>
                <a:gs pos="60000">
                  <a:srgbClr val="0078D4"/>
                </a:gs>
                <a:gs pos="4000">
                  <a:srgbClr val="C03BC4"/>
                </a:gs>
              </a:gsLst>
              <a:path path="circle">
                <a:fillToRect l="100000" t="100000"/>
              </a:path>
              <a:tileRect r="-100000" b="-100000"/>
            </a:gradFill>
            <a:ln w="15875">
              <a:solidFill>
                <a:schemeClr val="bg1"/>
              </a:solidFill>
            </a:ln>
            <a:effectLst>
              <a:outerShdw blurRad="254000" algn="ctr" rotWithShape="0">
                <a:schemeClr val="bg1">
                  <a:lumMod val="75000"/>
                  <a:alpha val="30000"/>
                </a:schemeClr>
              </a:outerShdw>
            </a:effectLst>
          </p:spPr>
          <p:txBody>
            <a:bodyPr vert="horz" wrap="square" lIns="320040" tIns="0" rIns="0" bIns="0" rtlCol="0" anchor="ctr" anchorCtr="0">
              <a:noAutofit/>
            </a:bodyPr>
            <a:lstStyle/>
            <a:p>
              <a:pPr marL="0" marR="0" lvl="0" indent="0" algn="l" defTabSz="932742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Pct val="90000"/>
                <a:buFontTx/>
                <a:buNone/>
                <a:tabLst/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  <a:ea typeface="+mn-ea"/>
                <a:cs typeface="Segoe UI Semibold" panose="020B0502040204020203" pitchFamily="34" charset="0"/>
              </a:endParaRPr>
            </a:p>
          </p:txBody>
        </p:sp>
        <p:sp>
          <p:nvSpPr>
            <p:cNvPr id="85" name="Rectangle 89">
              <a:extLst>
                <a:ext uri="{FF2B5EF4-FFF2-40B4-BE49-F238E27FC236}">
                  <a16:creationId xmlns:a16="http://schemas.microsoft.com/office/drawing/2014/main" id="{E1424AAE-0B41-949F-3E6D-9A5D7323D7DB}"/>
                </a:ext>
              </a:extLst>
            </p:cNvPr>
            <p:cNvSpPr/>
            <p:nvPr/>
          </p:nvSpPr>
          <p:spPr bwMode="auto">
            <a:xfrm rot="2700000">
              <a:off x="5334303" y="-1026795"/>
              <a:ext cx="148589" cy="148589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25400" cap="rnd">
              <a:solidFill>
                <a:schemeClr val="bg1"/>
              </a:soli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sp>
        <p:nvSpPr>
          <p:cNvPr id="10" name="Title 9">
            <a:extLst>
              <a:ext uri="{FF2B5EF4-FFF2-40B4-BE49-F238E27FC236}">
                <a16:creationId xmlns:a16="http://schemas.microsoft.com/office/drawing/2014/main" id="{37120404-23B9-B744-0816-1D0C351C9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2556" y="429376"/>
            <a:ext cx="4144817" cy="276999"/>
          </a:xfrm>
        </p:spPr>
        <p:txBody>
          <a:bodyPr/>
          <a:lstStyle>
            <a:lvl1pPr>
              <a:defRPr lang="en-IN" sz="1800" kern="1200" spc="-50" baseline="0" dirty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70">
            <a:extLst>
              <a:ext uri="{FF2B5EF4-FFF2-40B4-BE49-F238E27FC236}">
                <a16:creationId xmlns:a16="http://schemas.microsoft.com/office/drawing/2014/main" id="{BECC6E1E-CB20-24F2-9CE6-B77C08524D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04796" y="413987"/>
            <a:ext cx="1941119" cy="307777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spc="-50" baseline="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4" name="Licenses">
            <a:extLst>
              <a:ext uri="{FF2B5EF4-FFF2-40B4-BE49-F238E27FC236}">
                <a16:creationId xmlns:a16="http://schemas.microsoft.com/office/drawing/2014/main" id="{E442F0DF-3967-354D-A17D-A2229F6B3036}"/>
              </a:ext>
            </a:extLst>
          </p:cNvPr>
          <p:cNvSpPr>
            <a:spLocks noGrp="1"/>
          </p:cNvSpPr>
          <p:nvPr userDrawn="1">
            <p:ph type="body" sz="quarter" idx="44"/>
          </p:nvPr>
        </p:nvSpPr>
        <p:spPr>
          <a:xfrm>
            <a:off x="7149557" y="521100"/>
            <a:ext cx="2969488" cy="169277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1" i="0" spc="0" baseline="0">
                <a:solidFill>
                  <a:srgbClr val="C03BC4"/>
                </a:solidFill>
                <a:latin typeface="+mj-lt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2" name="Level">
            <a:extLst>
              <a:ext uri="{FF2B5EF4-FFF2-40B4-BE49-F238E27FC236}">
                <a16:creationId xmlns:a16="http://schemas.microsoft.com/office/drawing/2014/main" id="{0CD96223-5C6F-D226-0888-B8E8522B7793}"/>
              </a:ext>
            </a:extLst>
          </p:cNvPr>
          <p:cNvSpPr>
            <a:spLocks noGrp="1"/>
          </p:cNvSpPr>
          <p:nvPr userDrawn="1">
            <p:ph type="body" sz="quarter" idx="43"/>
          </p:nvPr>
        </p:nvSpPr>
        <p:spPr>
          <a:xfrm>
            <a:off x="10430351" y="521099"/>
            <a:ext cx="1456966" cy="175614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1" i="0" spc="0" baseline="0">
                <a:solidFill>
                  <a:srgbClr val="0078D4"/>
                </a:solidFill>
                <a:latin typeface="+mj-lt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r>
              <a:rPr lang="en-US"/>
              <a:t>Click to edit</a:t>
            </a:r>
          </a:p>
        </p:txBody>
      </p:sp>
      <p:sp>
        <p:nvSpPr>
          <p:cNvPr id="14" name="Step 5 Top">
            <a:extLst>
              <a:ext uri="{FF2B5EF4-FFF2-40B4-BE49-F238E27FC236}">
                <a16:creationId xmlns:a16="http://schemas.microsoft.com/office/drawing/2014/main" id="{5F6FC536-93D3-A645-6321-E19971F6F7A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311388" y="1026303"/>
            <a:ext cx="2431246" cy="1131079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kumimoji="0" lang="en-US" sz="1050" b="0" i="0" u="none" strike="noStrike" kern="1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ptos" panose="020B0004020202020204" pitchFamily="34" charset="0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53" name="Text Placeholder 8">
            <a:extLst>
              <a:ext uri="{FF2B5EF4-FFF2-40B4-BE49-F238E27FC236}">
                <a16:creationId xmlns:a16="http://schemas.microsoft.com/office/drawing/2014/main" id="{20290FDF-B386-A402-3F54-8F38D89E385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320721" y="3467940"/>
            <a:ext cx="1131650" cy="219456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/>
            </a:solidFill>
          </a:ln>
          <a:effectLst>
            <a:outerShdw blurRad="63500" dist="63500" dir="2700000" algn="tl" rotWithShape="0">
              <a:prstClr val="black">
                <a:alpha val="20000"/>
              </a:prstClr>
            </a:outerShdw>
          </a:effectLst>
        </p:spPr>
        <p:txBody>
          <a:bodyPr lIns="0" tIns="36576" rIns="0" bIns="36576" anchor="ctr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52" name="Text Placeholder 8">
            <a:extLst>
              <a:ext uri="{FF2B5EF4-FFF2-40B4-BE49-F238E27FC236}">
                <a16:creationId xmlns:a16="http://schemas.microsoft.com/office/drawing/2014/main" id="{CC259F50-FF88-8A52-A7A2-B916E54D0007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320721" y="4709762"/>
            <a:ext cx="1131651" cy="219456"/>
          </a:xfrm>
          <a:prstGeom prst="roundRect">
            <a:avLst>
              <a:gd name="adj" fmla="val 50000"/>
            </a:avLst>
          </a:prstGeom>
          <a:solidFill>
            <a:srgbClr val="C03BC4"/>
          </a:solidFill>
          <a:ln w="12700">
            <a:solidFill>
              <a:srgbClr val="C03BC4"/>
            </a:solidFill>
          </a:ln>
          <a:effectLst>
            <a:outerShdw blurRad="63500" dist="63500" dir="2700000" algn="tl" rotWithShape="0">
              <a:prstClr val="black">
                <a:alpha val="20000"/>
              </a:prstClr>
            </a:outerShdw>
          </a:effectLst>
        </p:spPr>
        <p:txBody>
          <a:bodyPr lIns="0" tIns="36576" rIns="0" bIns="36576" anchor="ctr">
            <a:no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  <a:latin typeface="+mj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04" name="Step 1 Title">
            <a:extLst>
              <a:ext uri="{FF2B5EF4-FFF2-40B4-BE49-F238E27FC236}">
                <a16:creationId xmlns:a16="http://schemas.microsoft.com/office/drawing/2014/main" id="{AAECE90F-E2FD-C50D-2380-5A623E6E68CC}"/>
              </a:ext>
            </a:extLst>
          </p:cNvPr>
          <p:cNvSpPr>
            <a:spLocks noGrp="1"/>
          </p:cNvSpPr>
          <p:nvPr userDrawn="1">
            <p:ph type="body" sz="quarter" idx="47"/>
          </p:nvPr>
        </p:nvSpPr>
        <p:spPr>
          <a:xfrm>
            <a:off x="3182890" y="1112478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Step 1 Top">
            <a:extLst>
              <a:ext uri="{FF2B5EF4-FFF2-40B4-BE49-F238E27FC236}">
                <a16:creationId xmlns:a16="http://schemas.microsoft.com/office/drawing/2014/main" id="{A10522D6-287E-CAF9-7877-202543AC084D}"/>
              </a:ext>
            </a:extLst>
          </p:cNvPr>
          <p:cNvSpPr>
            <a:spLocks noGrp="1"/>
          </p:cNvSpPr>
          <p:nvPr userDrawn="1">
            <p:ph type="body" sz="quarter" idx="48"/>
          </p:nvPr>
        </p:nvSpPr>
        <p:spPr>
          <a:xfrm>
            <a:off x="3182890" y="1438715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" name="Text Placeholder 11">
            <a:extLst>
              <a:ext uri="{FF2B5EF4-FFF2-40B4-BE49-F238E27FC236}">
                <a16:creationId xmlns:a16="http://schemas.microsoft.com/office/drawing/2014/main" id="{899216D1-14EF-7DC6-A6A8-3649535AF5ED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182889" y="2725494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 algn="l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114" name="Step 1 Title">
            <a:extLst>
              <a:ext uri="{FF2B5EF4-FFF2-40B4-BE49-F238E27FC236}">
                <a16:creationId xmlns:a16="http://schemas.microsoft.com/office/drawing/2014/main" id="{AFF8CAD5-73C9-15E8-C15B-5669E59EDF22}"/>
              </a:ext>
            </a:extLst>
          </p:cNvPr>
          <p:cNvSpPr>
            <a:spLocks noGrp="1"/>
          </p:cNvSpPr>
          <p:nvPr userDrawn="1">
            <p:ph type="body" sz="quarter" idx="49"/>
          </p:nvPr>
        </p:nvSpPr>
        <p:spPr>
          <a:xfrm>
            <a:off x="6066682" y="1112478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 startAt="2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9" name="Step 1 Top">
            <a:extLst>
              <a:ext uri="{FF2B5EF4-FFF2-40B4-BE49-F238E27FC236}">
                <a16:creationId xmlns:a16="http://schemas.microsoft.com/office/drawing/2014/main" id="{CBBB447E-62C7-3EE8-58FD-A63BA4091DC2}"/>
              </a:ext>
            </a:extLst>
          </p:cNvPr>
          <p:cNvSpPr>
            <a:spLocks noGrp="1"/>
          </p:cNvSpPr>
          <p:nvPr userDrawn="1">
            <p:ph type="body" sz="quarter" idx="50"/>
          </p:nvPr>
        </p:nvSpPr>
        <p:spPr>
          <a:xfrm>
            <a:off x="6066682" y="1438715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6E7EFF7-AB37-8C10-0D72-C219A327442B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6066682" y="2725494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 algn="l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127" name="Step 1 Title">
            <a:extLst>
              <a:ext uri="{FF2B5EF4-FFF2-40B4-BE49-F238E27FC236}">
                <a16:creationId xmlns:a16="http://schemas.microsoft.com/office/drawing/2014/main" id="{DC3628C0-ED08-9682-4738-5B06F7C21C56}"/>
              </a:ext>
            </a:extLst>
          </p:cNvPr>
          <p:cNvSpPr>
            <a:spLocks noGrp="1"/>
          </p:cNvSpPr>
          <p:nvPr userDrawn="1">
            <p:ph type="body" sz="quarter" idx="52"/>
          </p:nvPr>
        </p:nvSpPr>
        <p:spPr>
          <a:xfrm>
            <a:off x="8950475" y="1112478"/>
            <a:ext cx="2572262" cy="153888"/>
          </a:xfrm>
          <a:prstGeom prst="rect">
            <a:avLst/>
          </a:prstGeom>
          <a:noFill/>
          <a:effectLst/>
        </p:spPr>
        <p:txBody>
          <a:bodyPr lIns="0" tIns="0" rIns="0" bIns="0" anchor="ctr" anchorCtr="0">
            <a:spAutoFit/>
          </a:bodyPr>
          <a:lstStyle>
            <a:lvl1pPr marL="114300" indent="-114300" algn="l">
              <a:buSzPct val="100000"/>
              <a:buFont typeface="+mj-lt"/>
              <a:buAutoNum type="arabicPeriod" startAt="3"/>
              <a:defRPr sz="1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8" name="Step 1 Top">
            <a:extLst>
              <a:ext uri="{FF2B5EF4-FFF2-40B4-BE49-F238E27FC236}">
                <a16:creationId xmlns:a16="http://schemas.microsoft.com/office/drawing/2014/main" id="{E91EBCF2-F3C6-3640-61AD-0C42AE3B6C92}"/>
              </a:ext>
            </a:extLst>
          </p:cNvPr>
          <p:cNvSpPr>
            <a:spLocks noGrp="1"/>
          </p:cNvSpPr>
          <p:nvPr userDrawn="1">
            <p:ph type="body" sz="quarter" idx="53"/>
          </p:nvPr>
        </p:nvSpPr>
        <p:spPr>
          <a:xfrm>
            <a:off x="8950475" y="1438715"/>
            <a:ext cx="2572262" cy="626701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6820393F-A448-2E4C-089D-807F9DC2A07E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8950475" y="2725494"/>
            <a:ext cx="2572262" cy="712876"/>
          </a:xfrm>
          <a:prstGeom prst="roundRect">
            <a:avLst>
              <a:gd name="adj" fmla="val 9576"/>
            </a:avLst>
          </a:prstGeom>
          <a:solidFill>
            <a:schemeClr val="bg1">
              <a:lumMod val="95000"/>
              <a:alpha val="50000"/>
            </a:schemeClr>
          </a:solidFill>
        </p:spPr>
        <p:txBody>
          <a:bodyPr lIns="0" tIns="0" rIns="0" bIns="0" anchor="t">
            <a:noAutofit/>
          </a:bodyPr>
          <a:lstStyle>
            <a:lvl1pPr marL="0" indent="0">
              <a:spcBef>
                <a:spcPts val="0"/>
              </a:spcBef>
              <a:spcAft>
                <a:spcPts val="100"/>
              </a:spcAft>
              <a:buNone/>
              <a:defRPr sz="900"/>
            </a:lvl1pPr>
            <a:lvl2pPr marL="0" indent="0">
              <a:spcBef>
                <a:spcPts val="0"/>
              </a:spcBef>
              <a:spcAft>
                <a:spcPts val="200"/>
              </a:spcAft>
              <a:buNone/>
              <a:defRPr sz="900"/>
            </a:lvl2pPr>
            <a:lvl3pPr marL="0" indent="0">
              <a:spcBef>
                <a:spcPts val="0"/>
              </a:spcBef>
              <a:spcAft>
                <a:spcPts val="100"/>
              </a:spcAft>
              <a:buNone/>
              <a:defRPr sz="900">
                <a:latin typeface="+mj-lt"/>
              </a:defRPr>
            </a:lvl3pPr>
            <a:lvl4pPr marL="0" indent="0" algn="l">
              <a:buNone/>
              <a:defRPr sz="900">
                <a:latin typeface="+mj-lt"/>
              </a:defRPr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Level 2</a:t>
            </a:r>
          </a:p>
        </p:txBody>
      </p:sp>
      <p:sp>
        <p:nvSpPr>
          <p:cNvPr id="145" name="Footnote">
            <a:extLst>
              <a:ext uri="{FF2B5EF4-FFF2-40B4-BE49-F238E27FC236}">
                <a16:creationId xmlns:a16="http://schemas.microsoft.com/office/drawing/2014/main" id="{EFC765AC-7584-A8D3-1059-43D998733533}"/>
              </a:ext>
            </a:extLst>
          </p:cNvPr>
          <p:cNvSpPr txBox="1">
            <a:spLocks/>
          </p:cNvSpPr>
          <p:nvPr userDrawn="1"/>
        </p:nvSpPr>
        <p:spPr>
          <a:xfrm>
            <a:off x="320040" y="6309360"/>
            <a:ext cx="959741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7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1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Access M365 Copilot Chat at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hlinkClick r:id="rId2"/>
              </a:rPr>
              <a:t>m365copilot.com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, or the Microsoft 365 Copilot Chat mobile app and set toggle to “Web”.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2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Access M365 Copilot Chat at 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  <a:hlinkClick r:id="rId2"/>
              </a:rPr>
              <a:t>m365copilot.com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, the Microsoft 365 Copilot Chat mobile app, or the M365 Copilot Chat app in Teams, and set toggle to “Work”.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3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AI Agents allow Copilot to access your organization-specific apps. In the past this would have required an API call to get data from a system of record.</a:t>
            </a:r>
          </a:p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The content in this example scenario is for demonstration purposes only. You should evaluate how Copilot aligns with your organization’s business processes, regulatory requirements, and responsible AI principles.</a:t>
            </a:r>
          </a:p>
        </p:txBody>
      </p:sp>
    </p:spTree>
    <p:extLst>
      <p:ext uri="{BB962C8B-B14F-4D97-AF65-F5344CB8AC3E}">
        <p14:creationId xmlns:p14="http://schemas.microsoft.com/office/powerpoint/2010/main" val="33699104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8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60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4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888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y in the life six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387766"/>
            <a:ext cx="5672544" cy="526298"/>
          </a:xfrm>
        </p:spPr>
        <p:txBody>
          <a:bodyPr tIns="0"/>
          <a:lstStyle>
            <a:lvl1pPr>
              <a:lnSpc>
                <a:spcPct val="95000"/>
              </a:lnSpc>
              <a:defRPr sz="18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style; can be up to two lines long; 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endParaRPr lang="en-US"/>
          </a:p>
        </p:txBody>
      </p:sp>
      <p:sp>
        <p:nvSpPr>
          <p:cNvPr id="75" name="Scenario Level">
            <a:extLst>
              <a:ext uri="{FF2B5EF4-FFF2-40B4-BE49-F238E27FC236}">
                <a16:creationId xmlns:a16="http://schemas.microsoft.com/office/drawing/2014/main" id="{1BB75DAB-4D8A-2933-BB52-0C94AA4816E3}"/>
              </a:ext>
            </a:extLst>
          </p:cNvPr>
          <p:cNvSpPr txBox="1"/>
          <p:nvPr userDrawn="1"/>
        </p:nvSpPr>
        <p:spPr>
          <a:xfrm>
            <a:off x="10955436" y="351933"/>
            <a:ext cx="93176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Scenario level:</a:t>
            </a:r>
          </a:p>
        </p:txBody>
      </p:sp>
      <p:sp>
        <p:nvSpPr>
          <p:cNvPr id="3" name="Level">
            <a:extLst>
              <a:ext uri="{FF2B5EF4-FFF2-40B4-BE49-F238E27FC236}">
                <a16:creationId xmlns:a16="http://schemas.microsoft.com/office/drawing/2014/main" id="{78D71A05-3479-3DEB-1227-2FC98983A80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430234" y="521099"/>
            <a:ext cx="1456966" cy="175614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1" i="0" spc="-20" baseline="0">
                <a:solidFill>
                  <a:srgbClr val="0078D4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r>
              <a:rPr lang="en-US"/>
              <a:t>Buy</a:t>
            </a:r>
          </a:p>
        </p:txBody>
      </p:sp>
      <p:sp>
        <p:nvSpPr>
          <p:cNvPr id="84" name="Available With">
            <a:extLst>
              <a:ext uri="{FF2B5EF4-FFF2-40B4-BE49-F238E27FC236}">
                <a16:creationId xmlns:a16="http://schemas.microsoft.com/office/drawing/2014/main" id="{8D8427AA-F015-D373-46E2-2EB1053D80CE}"/>
              </a:ext>
            </a:extLst>
          </p:cNvPr>
          <p:cNvSpPr txBox="1"/>
          <p:nvPr userDrawn="1"/>
        </p:nvSpPr>
        <p:spPr>
          <a:xfrm>
            <a:off x="9187165" y="351933"/>
            <a:ext cx="93176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rPr>
              <a:t>Available with: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216CED8-8F45-B380-FB1B-B9408979340F}"/>
              </a:ext>
            </a:extLst>
          </p:cNvPr>
          <p:cNvCxnSpPr/>
          <p:nvPr userDrawn="1"/>
        </p:nvCxnSpPr>
        <p:spPr>
          <a:xfrm>
            <a:off x="10357672" y="358721"/>
            <a:ext cx="0" cy="331655"/>
          </a:xfrm>
          <a:prstGeom prst="line">
            <a:avLst/>
          </a:prstGeom>
          <a:ln>
            <a:solidFill>
              <a:srgbClr val="B1B3B3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License">
            <a:extLst>
              <a:ext uri="{FF2B5EF4-FFF2-40B4-BE49-F238E27FC236}">
                <a16:creationId xmlns:a16="http://schemas.microsoft.com/office/drawing/2014/main" id="{6B562108-00FE-5F42-7550-13BB7DE58E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19107" y="521099"/>
            <a:ext cx="3599821" cy="169277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100" b="1" i="0" spc="-20" baseline="0">
                <a:solidFill>
                  <a:srgbClr val="C03BC4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228600" indent="0" algn="r">
              <a:spcBef>
                <a:spcPts val="0"/>
              </a:spcBef>
              <a:buNone/>
              <a:defRPr sz="1100" spc="-20" baseline="0">
                <a:solidFill>
                  <a:srgbClr val="B1B3B3"/>
                </a:solidFill>
              </a:defRPr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/>
              <a:t>Microsoft 365 Copilot</a:t>
            </a:r>
          </a:p>
        </p:txBody>
      </p:sp>
      <p:sp>
        <p:nvSpPr>
          <p:cNvPr id="119" name="Freeform: Shape 2">
            <a:extLst>
              <a:ext uri="{FF2B5EF4-FFF2-40B4-BE49-F238E27FC236}">
                <a16:creationId xmlns:a16="http://schemas.microsoft.com/office/drawing/2014/main" id="{DFCC0CE5-9BBF-33A2-43D3-99555654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857513"/>
            <a:ext cx="10010265" cy="2453282"/>
          </a:xfrm>
          <a:custGeom>
            <a:avLst/>
            <a:gdLst>
              <a:gd name="connsiteX0" fmla="*/ 0 w 9070975"/>
              <a:gd name="connsiteY0" fmla="*/ 0 h 2491048"/>
              <a:gd name="connsiteX1" fmla="*/ 8850592 w 9070975"/>
              <a:gd name="connsiteY1" fmla="*/ 0 h 2491048"/>
              <a:gd name="connsiteX2" fmla="*/ 9070975 w 9070975"/>
              <a:gd name="connsiteY2" fmla="*/ 220383 h 2491048"/>
              <a:gd name="connsiteX3" fmla="*/ 9070975 w 9070975"/>
              <a:gd name="connsiteY3" fmla="*/ 2270665 h 2491048"/>
              <a:gd name="connsiteX4" fmla="*/ 8850592 w 9070975"/>
              <a:gd name="connsiteY4" fmla="*/ 2491048 h 2491048"/>
              <a:gd name="connsiteX5" fmla="*/ 0 w 9070975"/>
              <a:gd name="connsiteY5" fmla="*/ 2491048 h 2491048"/>
              <a:gd name="connsiteX0" fmla="*/ 25400 w 9096375"/>
              <a:gd name="connsiteY0" fmla="*/ 0 h 2491048"/>
              <a:gd name="connsiteX1" fmla="*/ 8875992 w 9096375"/>
              <a:gd name="connsiteY1" fmla="*/ 0 h 2491048"/>
              <a:gd name="connsiteX2" fmla="*/ 9096375 w 9096375"/>
              <a:gd name="connsiteY2" fmla="*/ 220383 h 2491048"/>
              <a:gd name="connsiteX3" fmla="*/ 9096375 w 9096375"/>
              <a:gd name="connsiteY3" fmla="*/ 2270665 h 2491048"/>
              <a:gd name="connsiteX4" fmla="*/ 8875992 w 9096375"/>
              <a:gd name="connsiteY4" fmla="*/ 2491048 h 2491048"/>
              <a:gd name="connsiteX5" fmla="*/ 25400 w 9096375"/>
              <a:gd name="connsiteY5" fmla="*/ 2491048 h 2491048"/>
              <a:gd name="connsiteX6" fmla="*/ 0 w 9096375"/>
              <a:gd name="connsiteY6" fmla="*/ 1182948 h 2491048"/>
              <a:gd name="connsiteX7" fmla="*/ 25400 w 9096375"/>
              <a:gd name="connsiteY7" fmla="*/ 0 h 2491048"/>
              <a:gd name="connsiteX0" fmla="*/ 0 w 9096375"/>
              <a:gd name="connsiteY0" fmla="*/ 1182948 h 2491048"/>
              <a:gd name="connsiteX1" fmla="*/ 25400 w 9096375"/>
              <a:gd name="connsiteY1" fmla="*/ 0 h 2491048"/>
              <a:gd name="connsiteX2" fmla="*/ 8875992 w 9096375"/>
              <a:gd name="connsiteY2" fmla="*/ 0 h 2491048"/>
              <a:gd name="connsiteX3" fmla="*/ 9096375 w 9096375"/>
              <a:gd name="connsiteY3" fmla="*/ 220383 h 2491048"/>
              <a:gd name="connsiteX4" fmla="*/ 9096375 w 9096375"/>
              <a:gd name="connsiteY4" fmla="*/ 2270665 h 2491048"/>
              <a:gd name="connsiteX5" fmla="*/ 8875992 w 9096375"/>
              <a:gd name="connsiteY5" fmla="*/ 2491048 h 2491048"/>
              <a:gd name="connsiteX6" fmla="*/ 25400 w 9096375"/>
              <a:gd name="connsiteY6" fmla="*/ 2491048 h 2491048"/>
              <a:gd name="connsiteX7" fmla="*/ 91440 w 9096375"/>
              <a:gd name="connsiteY7" fmla="*/ 1274388 h 2491048"/>
              <a:gd name="connsiteX0" fmla="*/ 0 w 9096375"/>
              <a:gd name="connsiteY0" fmla="*/ 1182948 h 2491048"/>
              <a:gd name="connsiteX1" fmla="*/ 25400 w 9096375"/>
              <a:gd name="connsiteY1" fmla="*/ 0 h 2491048"/>
              <a:gd name="connsiteX2" fmla="*/ 8875992 w 9096375"/>
              <a:gd name="connsiteY2" fmla="*/ 0 h 2491048"/>
              <a:gd name="connsiteX3" fmla="*/ 9096375 w 9096375"/>
              <a:gd name="connsiteY3" fmla="*/ 220383 h 2491048"/>
              <a:gd name="connsiteX4" fmla="*/ 9096375 w 9096375"/>
              <a:gd name="connsiteY4" fmla="*/ 2270665 h 2491048"/>
              <a:gd name="connsiteX5" fmla="*/ 8875992 w 9096375"/>
              <a:gd name="connsiteY5" fmla="*/ 2491048 h 2491048"/>
              <a:gd name="connsiteX6" fmla="*/ 25400 w 9096375"/>
              <a:gd name="connsiteY6" fmla="*/ 2491048 h 2491048"/>
              <a:gd name="connsiteX0" fmla="*/ 0 w 9070975"/>
              <a:gd name="connsiteY0" fmla="*/ 0 h 2491048"/>
              <a:gd name="connsiteX1" fmla="*/ 8850592 w 9070975"/>
              <a:gd name="connsiteY1" fmla="*/ 0 h 2491048"/>
              <a:gd name="connsiteX2" fmla="*/ 9070975 w 9070975"/>
              <a:gd name="connsiteY2" fmla="*/ 220383 h 2491048"/>
              <a:gd name="connsiteX3" fmla="*/ 9070975 w 9070975"/>
              <a:gd name="connsiteY3" fmla="*/ 2270665 h 2491048"/>
              <a:gd name="connsiteX4" fmla="*/ 8850592 w 9070975"/>
              <a:gd name="connsiteY4" fmla="*/ 2491048 h 2491048"/>
              <a:gd name="connsiteX5" fmla="*/ 0 w 9070975"/>
              <a:gd name="connsiteY5" fmla="*/ 2491048 h 2491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70975" h="2491048">
                <a:moveTo>
                  <a:pt x="0" y="0"/>
                </a:moveTo>
                <a:lnTo>
                  <a:pt x="8850592" y="0"/>
                </a:lnTo>
                <a:cubicBezTo>
                  <a:pt x="8972306" y="0"/>
                  <a:pt x="9070975" y="98669"/>
                  <a:pt x="9070975" y="220383"/>
                </a:cubicBezTo>
                <a:lnTo>
                  <a:pt x="9070975" y="2270665"/>
                </a:lnTo>
                <a:cubicBezTo>
                  <a:pt x="9070975" y="2392379"/>
                  <a:pt x="8972306" y="2491048"/>
                  <a:pt x="8850592" y="2491048"/>
                </a:cubicBezTo>
                <a:lnTo>
                  <a:pt x="0" y="2491048"/>
                </a:lnTo>
              </a:path>
            </a:pathLst>
          </a:custGeom>
          <a:ln w="15875" cap="flat">
            <a:gradFill flip="none" rotWithShape="1">
              <a:gsLst>
                <a:gs pos="0">
                  <a:srgbClr val="0078D4"/>
                </a:gs>
                <a:gs pos="100000">
                  <a:schemeClr val="accent3"/>
                </a:gs>
              </a:gsLst>
              <a:lin ang="0" scaled="1"/>
              <a:tileRect/>
            </a:gradFill>
            <a:headEnd type="none" w="lg" len="med"/>
            <a:tailEnd type="none" w="lg" len="med"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F3E1CBA9-BB11-EF2E-649E-27B49E82FE86}"/>
              </a:ext>
            </a:extLst>
          </p:cNvPr>
          <p:cNvGrpSpPr/>
          <p:nvPr userDrawn="1"/>
        </p:nvGrpSpPr>
        <p:grpSpPr>
          <a:xfrm>
            <a:off x="3476832" y="1793093"/>
            <a:ext cx="166152" cy="166152"/>
            <a:chOff x="5214995" y="-1168400"/>
            <a:chExt cx="431800" cy="431800"/>
          </a:xfrm>
        </p:grpSpPr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E54C8AC7-0DF2-A7B4-59BC-354BDE9A823D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49" name="Rectangle 89">
              <a:extLst>
                <a:ext uri="{FF2B5EF4-FFF2-40B4-BE49-F238E27FC236}">
                  <a16:creationId xmlns:a16="http://schemas.microsoft.com/office/drawing/2014/main" id="{F0376496-3125-ED18-7608-C142A0C35F33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3D3E10AB-B82F-F7E8-A33D-8AF61C784420}"/>
              </a:ext>
            </a:extLst>
          </p:cNvPr>
          <p:cNvGrpSpPr/>
          <p:nvPr userDrawn="1"/>
        </p:nvGrpSpPr>
        <p:grpSpPr>
          <a:xfrm>
            <a:off x="6669529" y="1793093"/>
            <a:ext cx="166152" cy="166152"/>
            <a:chOff x="5214995" y="-1168400"/>
            <a:chExt cx="431800" cy="431800"/>
          </a:xfrm>
        </p:grpSpPr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CC526CF7-4F8D-6DB9-E3E9-2381E7AFAF4A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52" name="Rectangle 89">
              <a:extLst>
                <a:ext uri="{FF2B5EF4-FFF2-40B4-BE49-F238E27FC236}">
                  <a16:creationId xmlns:a16="http://schemas.microsoft.com/office/drawing/2014/main" id="{63E3BD4D-8045-49DC-2041-46643AE5ED02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16F1C59-4D7D-3BDD-0560-654E11A9B15E}"/>
              </a:ext>
            </a:extLst>
          </p:cNvPr>
          <p:cNvGrpSpPr/>
          <p:nvPr userDrawn="1"/>
        </p:nvGrpSpPr>
        <p:grpSpPr>
          <a:xfrm flipH="1">
            <a:off x="3476832" y="4248344"/>
            <a:ext cx="166152" cy="166152"/>
            <a:chOff x="5214995" y="-1168400"/>
            <a:chExt cx="431800" cy="431800"/>
          </a:xfrm>
        </p:grpSpPr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A0C410FC-F149-F1FA-B620-BF7F0EDE7D6C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55" name="Rectangle 89">
              <a:extLst>
                <a:ext uri="{FF2B5EF4-FFF2-40B4-BE49-F238E27FC236}">
                  <a16:creationId xmlns:a16="http://schemas.microsoft.com/office/drawing/2014/main" id="{5B5C9B65-59ED-2529-1E53-C9ABE9CB79FD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8DAF83D-E0BD-BE8E-ECEC-5E5EDE3E6C74}"/>
              </a:ext>
            </a:extLst>
          </p:cNvPr>
          <p:cNvGrpSpPr/>
          <p:nvPr userDrawn="1"/>
        </p:nvGrpSpPr>
        <p:grpSpPr>
          <a:xfrm flipH="1">
            <a:off x="6669529" y="4248344"/>
            <a:ext cx="166152" cy="166152"/>
            <a:chOff x="5214995" y="-1168400"/>
            <a:chExt cx="431800" cy="431800"/>
          </a:xfrm>
        </p:grpSpPr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2CC39567-C008-3C38-03DA-28EE0BE74832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58" name="Rectangle 89">
              <a:extLst>
                <a:ext uri="{FF2B5EF4-FFF2-40B4-BE49-F238E27FC236}">
                  <a16:creationId xmlns:a16="http://schemas.microsoft.com/office/drawing/2014/main" id="{99B2574B-7594-72E2-E826-4D4DA471A11A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E60DF7C5-E7F6-A90D-706C-6592ECDDB338}"/>
              </a:ext>
            </a:extLst>
          </p:cNvPr>
          <p:cNvGrpSpPr/>
          <p:nvPr userDrawn="1"/>
        </p:nvGrpSpPr>
        <p:grpSpPr>
          <a:xfrm rot="5400000">
            <a:off x="9928103" y="2233511"/>
            <a:ext cx="166152" cy="166152"/>
            <a:chOff x="5214995" y="-1168400"/>
            <a:chExt cx="431800" cy="431800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1A9EA57-349E-6453-094C-DB252913E583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79" name="Rectangle 89">
              <a:extLst>
                <a:ext uri="{FF2B5EF4-FFF2-40B4-BE49-F238E27FC236}">
                  <a16:creationId xmlns:a16="http://schemas.microsoft.com/office/drawing/2014/main" id="{217C0C60-8F15-8390-C6A7-0DB9E99CA653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572509-4831-8A48-B663-AE17D9FD8ED5}"/>
              </a:ext>
            </a:extLst>
          </p:cNvPr>
          <p:cNvGrpSpPr/>
          <p:nvPr userDrawn="1"/>
        </p:nvGrpSpPr>
        <p:grpSpPr>
          <a:xfrm rot="5400000">
            <a:off x="9928103" y="3954518"/>
            <a:ext cx="166152" cy="166152"/>
            <a:chOff x="5214995" y="-1168400"/>
            <a:chExt cx="431800" cy="431800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068A591D-A59C-D3D7-2C67-293B3727D0A2}"/>
                </a:ext>
              </a:extLst>
            </p:cNvPr>
            <p:cNvSpPr/>
            <p:nvPr/>
          </p:nvSpPr>
          <p:spPr bwMode="auto">
            <a:xfrm>
              <a:off x="5214995" y="-1168400"/>
              <a:ext cx="431800" cy="431800"/>
            </a:xfrm>
            <a:prstGeom prst="ellipse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sp>
          <p:nvSpPr>
            <p:cNvPr id="182" name="Rectangle 89">
              <a:extLst>
                <a:ext uri="{FF2B5EF4-FFF2-40B4-BE49-F238E27FC236}">
                  <a16:creationId xmlns:a16="http://schemas.microsoft.com/office/drawing/2014/main" id="{8B0AF6B1-C3AC-C476-AE16-287C61A1D75A}"/>
                </a:ext>
              </a:extLst>
            </p:cNvPr>
            <p:cNvSpPr/>
            <p:nvPr/>
          </p:nvSpPr>
          <p:spPr bwMode="auto">
            <a:xfrm rot="2700000">
              <a:off x="5303185" y="-1042110"/>
              <a:ext cx="179220" cy="179220"/>
            </a:xfrm>
            <a:custGeom>
              <a:avLst/>
              <a:gdLst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  <a:gd name="connsiteX3" fmla="*/ 0 w 317500"/>
                <a:gd name="connsiteY3" fmla="*/ 317500 h 317500"/>
                <a:gd name="connsiteX4" fmla="*/ 0 w 317500"/>
                <a:gd name="connsiteY4" fmla="*/ 0 h 317500"/>
                <a:gd name="connsiteX0" fmla="*/ 0 w 317500"/>
                <a:gd name="connsiteY0" fmla="*/ 317500 h 408940"/>
                <a:gd name="connsiteX1" fmla="*/ 0 w 317500"/>
                <a:gd name="connsiteY1" fmla="*/ 0 h 408940"/>
                <a:gd name="connsiteX2" fmla="*/ 317500 w 317500"/>
                <a:gd name="connsiteY2" fmla="*/ 0 h 408940"/>
                <a:gd name="connsiteX3" fmla="*/ 317500 w 317500"/>
                <a:gd name="connsiteY3" fmla="*/ 317500 h 408940"/>
                <a:gd name="connsiteX4" fmla="*/ 91440 w 317500"/>
                <a:gd name="connsiteY4" fmla="*/ 408940 h 408940"/>
                <a:gd name="connsiteX0" fmla="*/ 0 w 317500"/>
                <a:gd name="connsiteY0" fmla="*/ 317500 h 317500"/>
                <a:gd name="connsiteX1" fmla="*/ 0 w 317500"/>
                <a:gd name="connsiteY1" fmla="*/ 0 h 317500"/>
                <a:gd name="connsiteX2" fmla="*/ 317500 w 317500"/>
                <a:gd name="connsiteY2" fmla="*/ 0 h 317500"/>
                <a:gd name="connsiteX3" fmla="*/ 317500 w 317500"/>
                <a:gd name="connsiteY3" fmla="*/ 317500 h 317500"/>
                <a:gd name="connsiteX0" fmla="*/ 0 w 317500"/>
                <a:gd name="connsiteY0" fmla="*/ 0 h 317500"/>
                <a:gd name="connsiteX1" fmla="*/ 317500 w 317500"/>
                <a:gd name="connsiteY1" fmla="*/ 0 h 317500"/>
                <a:gd name="connsiteX2" fmla="*/ 317500 w 317500"/>
                <a:gd name="connsiteY2" fmla="*/ 317500 h 317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500" h="317500">
                  <a:moveTo>
                    <a:pt x="0" y="0"/>
                  </a:moveTo>
                  <a:lnTo>
                    <a:pt x="317500" y="0"/>
                  </a:lnTo>
                  <a:lnTo>
                    <a:pt x="317500" y="317500"/>
                  </a:lnTo>
                </a:path>
              </a:pathLst>
            </a:custGeom>
            <a:ln w="15875" cap="rnd">
              <a:gradFill flip="none" rotWithShape="1">
                <a:gsLst>
                  <a:gs pos="0">
                    <a:srgbClr val="0078D4"/>
                  </a:gs>
                  <a:gs pos="100000">
                    <a:schemeClr val="accent3"/>
                  </a:gs>
                </a:gsLst>
                <a:lin ang="0" scaled="1"/>
                <a:tileRect/>
              </a:gradFill>
              <a:headEnd type="none" w="lg" len="med"/>
              <a:tailEnd type="none" w="lg" len="med"/>
            </a:ln>
            <a:effectLst>
              <a:outerShdw blurRad="127000" algn="ctr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</p:grpSp>
      <p:sp>
        <p:nvSpPr>
          <p:cNvPr id="95" name="Step 1 TItle">
            <a:extLst>
              <a:ext uri="{FF2B5EF4-FFF2-40B4-BE49-F238E27FC236}">
                <a16:creationId xmlns:a16="http://schemas.microsoft.com/office/drawing/2014/main" id="{545F2FD2-44C5-DA9F-8E2B-13D6C03793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169013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06" name="Step 1 Top">
            <a:extLst>
              <a:ext uri="{FF2B5EF4-FFF2-40B4-BE49-F238E27FC236}">
                <a16:creationId xmlns:a16="http://schemas.microsoft.com/office/drawing/2014/main" id="{433B73A7-DB5C-AF5A-B12A-70E655D0C5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84200" y="2128438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Step 1 Bottom">
            <a:extLst>
              <a:ext uri="{FF2B5EF4-FFF2-40B4-BE49-F238E27FC236}">
                <a16:creationId xmlns:a16="http://schemas.microsoft.com/office/drawing/2014/main" id="{C966B391-3BF4-A5FB-4F8A-8B4B5468966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4199" y="3304510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83" name="Step 2 Title">
            <a:extLst>
              <a:ext uri="{FF2B5EF4-FFF2-40B4-BE49-F238E27FC236}">
                <a16:creationId xmlns:a16="http://schemas.microsoft.com/office/drawing/2014/main" id="{DF1E6E41-3DB3-84EB-984F-CCB9167D56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76898" y="169013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84" name="Step 2 Top">
            <a:extLst>
              <a:ext uri="{FF2B5EF4-FFF2-40B4-BE49-F238E27FC236}">
                <a16:creationId xmlns:a16="http://schemas.microsoft.com/office/drawing/2014/main" id="{6E6ACE10-8248-C360-0E35-7598E8EC828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76898" y="2128438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Step 2 Bottom">
            <a:extLst>
              <a:ext uri="{FF2B5EF4-FFF2-40B4-BE49-F238E27FC236}">
                <a16:creationId xmlns:a16="http://schemas.microsoft.com/office/drawing/2014/main" id="{55D154DF-71A5-D9D3-0756-AA7208899CF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776897" y="3304510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86" name="Step 3 Title">
            <a:extLst>
              <a:ext uri="{FF2B5EF4-FFF2-40B4-BE49-F238E27FC236}">
                <a16:creationId xmlns:a16="http://schemas.microsoft.com/office/drawing/2014/main" id="{3BF3353A-2534-A54C-BD30-4DA6ABBA06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69595" y="169013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87" name="Step 3 Top">
            <a:extLst>
              <a:ext uri="{FF2B5EF4-FFF2-40B4-BE49-F238E27FC236}">
                <a16:creationId xmlns:a16="http://schemas.microsoft.com/office/drawing/2014/main" id="{F8FA69C0-B798-B0EF-B064-997FF774E8E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969595" y="2128438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9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Click to edit Master text styles</a:t>
            </a:r>
          </a:p>
        </p:txBody>
      </p:sp>
      <p:sp>
        <p:nvSpPr>
          <p:cNvPr id="188" name="Step 3 Bottom">
            <a:extLst>
              <a:ext uri="{FF2B5EF4-FFF2-40B4-BE49-F238E27FC236}">
                <a16:creationId xmlns:a16="http://schemas.microsoft.com/office/drawing/2014/main" id="{FFA3E6BA-ECB6-F78C-CF22-7B05706020E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969595" y="3304510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95" name="Step 4 Title">
            <a:extLst>
              <a:ext uri="{FF2B5EF4-FFF2-40B4-BE49-F238E27FC236}">
                <a16:creationId xmlns:a16="http://schemas.microsoft.com/office/drawing/2014/main" id="{4411A19D-5600-3582-7891-BEECA6B3C92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9595" y="415007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96" name="Step 4 Top">
            <a:extLst>
              <a:ext uri="{FF2B5EF4-FFF2-40B4-BE49-F238E27FC236}">
                <a16:creationId xmlns:a16="http://schemas.microsoft.com/office/drawing/2014/main" id="{E6756EC6-5C62-CCBD-6970-540F4E463C6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969595" y="4584616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7" name="Step 4 Bottom">
            <a:extLst>
              <a:ext uri="{FF2B5EF4-FFF2-40B4-BE49-F238E27FC236}">
                <a16:creationId xmlns:a16="http://schemas.microsoft.com/office/drawing/2014/main" id="{56520A8E-9E5D-0840-1CB1-35762F47BF5D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969595" y="5696772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92" name="Step 5 Title">
            <a:extLst>
              <a:ext uri="{FF2B5EF4-FFF2-40B4-BE49-F238E27FC236}">
                <a16:creationId xmlns:a16="http://schemas.microsoft.com/office/drawing/2014/main" id="{D8F51403-DA8F-C60A-932D-8B8817FDA75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76898" y="415007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93" name="Step 5 Top">
            <a:extLst>
              <a:ext uri="{FF2B5EF4-FFF2-40B4-BE49-F238E27FC236}">
                <a16:creationId xmlns:a16="http://schemas.microsoft.com/office/drawing/2014/main" id="{1D287AE8-D07F-849B-E6F1-1AC629E8FB3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776898" y="4584616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4" name="Step 5 Bottom">
            <a:extLst>
              <a:ext uri="{FF2B5EF4-FFF2-40B4-BE49-F238E27FC236}">
                <a16:creationId xmlns:a16="http://schemas.microsoft.com/office/drawing/2014/main" id="{D79AB424-C959-FD9F-0942-4B657234F22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776897" y="5681038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189" name="Step 6 Title">
            <a:extLst>
              <a:ext uri="{FF2B5EF4-FFF2-40B4-BE49-F238E27FC236}">
                <a16:creationId xmlns:a16="http://schemas.microsoft.com/office/drawing/2014/main" id="{E07EBCA7-C1BD-E0AD-6403-14224CB1B5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84200" y="4150071"/>
            <a:ext cx="2808000" cy="3456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5000">
                <a:srgbClr val="0078D4"/>
              </a:gs>
              <a:gs pos="0">
                <a:srgbClr val="C03BC4"/>
              </a:gs>
            </a:gsLst>
            <a:path path="circle">
              <a:fillToRect l="100000" t="100000"/>
            </a:path>
            <a:tileRect r="-100000" b="-100000"/>
          </a:gradFill>
          <a:effectLst>
            <a:outerShdw blurRad="63500" dist="63500" dir="2700000" algn="tl" rotWithShape="0">
              <a:srgbClr val="454142">
                <a:alpha val="20000"/>
              </a:srgbClr>
            </a:outerShdw>
          </a:effectLst>
        </p:spPr>
        <p:txBody>
          <a:bodyPr anchor="ctr" anchorCtr="0">
            <a:noAutofit/>
          </a:bodyPr>
          <a:lstStyle>
            <a:lvl1pPr marL="0" indent="0" algn="ctr">
              <a:buNone/>
              <a:defRPr sz="1200" b="1" i="0">
                <a:solidFill>
                  <a:srgbClr val="FFFFFF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/>
              <a:t>00:00am</a:t>
            </a:r>
          </a:p>
        </p:txBody>
      </p:sp>
      <p:sp>
        <p:nvSpPr>
          <p:cNvPr id="190" name="Step 6 Top">
            <a:extLst>
              <a:ext uri="{FF2B5EF4-FFF2-40B4-BE49-F238E27FC236}">
                <a16:creationId xmlns:a16="http://schemas.microsoft.com/office/drawing/2014/main" id="{880DDDC9-1973-AB6B-84B0-8402F7E57DD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84200" y="4584616"/>
            <a:ext cx="2808000" cy="626701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Step 6 Bottom">
            <a:extLst>
              <a:ext uri="{FF2B5EF4-FFF2-40B4-BE49-F238E27FC236}">
                <a16:creationId xmlns:a16="http://schemas.microsoft.com/office/drawing/2014/main" id="{779BA1D8-105C-B66F-63AF-84DC7F62245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84200" y="5681038"/>
            <a:ext cx="2808000" cy="626701"/>
          </a:xfrm>
          <a:prstGeom prst="roundRect">
            <a:avLst>
              <a:gd name="adj" fmla="val 10035"/>
            </a:avLst>
          </a:prstGeom>
          <a:solidFill>
            <a:srgbClr val="FFFFFF">
              <a:alpha val="70046"/>
            </a:srgbClr>
          </a:solidFill>
          <a:ln w="12700">
            <a:solidFill>
              <a:schemeClr val="bg1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90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900" b="1" i="0">
                <a:latin typeface="Segoe UI" panose="020B0502040204020203" pitchFamily="34" charset="0"/>
                <a:cs typeface="Segoe UI" panose="020B0502040204020203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Level 2</a:t>
            </a:r>
          </a:p>
        </p:txBody>
      </p:sp>
      <p:sp>
        <p:nvSpPr>
          <p:cNvPr id="5" name="Footnote">
            <a:extLst>
              <a:ext uri="{FF2B5EF4-FFF2-40B4-BE49-F238E27FC236}">
                <a16:creationId xmlns:a16="http://schemas.microsoft.com/office/drawing/2014/main" id="{31EB8337-5CD4-C7D9-AFCA-89AFAC81CFF8}"/>
              </a:ext>
            </a:extLst>
          </p:cNvPr>
          <p:cNvSpPr txBox="1">
            <a:spLocks/>
          </p:cNvSpPr>
          <p:nvPr userDrawn="1"/>
        </p:nvSpPr>
        <p:spPr>
          <a:xfrm>
            <a:off x="653131" y="6406129"/>
            <a:ext cx="959741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7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aseline="30000" noProof="0" dirty="0"/>
              <a:t>1</a:t>
            </a:r>
            <a:r>
              <a:rPr lang="en-US" noProof="0" dirty="0"/>
              <a:t>Access M365 Copilot Chat at </a:t>
            </a:r>
            <a:r>
              <a:rPr lang="en-US" noProof="0" dirty="0">
                <a:hlinkClick r:id="rId2"/>
              </a:rPr>
              <a:t>m365copilot.com </a:t>
            </a:r>
            <a:r>
              <a:rPr lang="en-US" noProof="0" dirty="0"/>
              <a:t>or the Microsoft 365 Copilot Chat mobile app and set toggle to “Web”.</a:t>
            </a:r>
          </a:p>
          <a:p>
            <a:r>
              <a:rPr lang="en-US" baseline="30000" noProof="0" dirty="0"/>
              <a:t>2</a:t>
            </a:r>
            <a:r>
              <a:rPr lang="en-US" noProof="0" dirty="0"/>
              <a:t>Access M365 Copilot Chat at </a:t>
            </a:r>
            <a:r>
              <a:rPr lang="en-US" noProof="0" dirty="0">
                <a:hlinkClick r:id="rId2"/>
              </a:rPr>
              <a:t>m365copilot.com</a:t>
            </a:r>
            <a:r>
              <a:rPr lang="en-US" noProof="0" dirty="0"/>
              <a:t>, the Microsoft 365 Copilot Chat mobile app, or the M365 Copilot Chat app in Teams, and set toggle to “Work”.</a:t>
            </a:r>
          </a:p>
          <a:p>
            <a:r>
              <a:rPr lang="en-US" baseline="30000" noProof="0" dirty="0"/>
              <a:t>3</a:t>
            </a:r>
            <a:r>
              <a:rPr lang="en-US" noProof="0" dirty="0"/>
              <a:t>AI Agents allow Copilot to access your organization-specific apps. In the past this would have required an API call to get data from a system of record.</a:t>
            </a:r>
          </a:p>
          <a:p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Segoe UI" panose="020B0502040204020203" pitchFamily="34" charset="0"/>
              </a:rPr>
              <a:t>The content in this example scenario is for demonstration purposes only. You should evaluate how Copilot aligns with your organization’s business processes, regulatory requirements, and responsible AI principles.</a:t>
            </a:r>
          </a:p>
        </p:txBody>
      </p:sp>
    </p:spTree>
    <p:extLst>
      <p:ext uri="{BB962C8B-B14F-4D97-AF65-F5344CB8AC3E}">
        <p14:creationId xmlns:p14="http://schemas.microsoft.com/office/powerpoint/2010/main" val="36911182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92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9" r:id="rId7"/>
    <p:sldLayoutId id="2147483670" r:id="rId8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>
          <p15:clr>
            <a:srgbClr val="C35EA4"/>
          </p15:clr>
        </p15:guide>
        <p15:guide id="17" pos="7320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92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support.microsoft.com/en-us/topic/get-started-with-word-excel-and-powerpoint-agents-in-microsoft-365-copilot-frontier-76691f5e-bb19-4029-a34d-33a00e0a0c4f" TargetMode="External"/><Relationship Id="rId7" Type="http://schemas.openxmlformats.org/officeDocument/2006/relationships/hyperlink" Target="https://support.microsoft.com/en-us/topic/overview-of-microsoft-365-chat-preview-5b00a52d-7296-48ee-b938-b95b7209f73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jpeg"/><Relationship Id="rId11" Type="http://schemas.openxmlformats.org/officeDocument/2006/relationships/image" Target="../media/image14.png"/><Relationship Id="rId5" Type="http://schemas.openxmlformats.org/officeDocument/2006/relationships/image" Target="../media/image9.sv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119A2-D2AC-66A7-129C-3DDA9D981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37">
            <a:extLst>
              <a:ext uri="{FF2B5EF4-FFF2-40B4-BE49-F238E27FC236}">
                <a16:creationId xmlns:a16="http://schemas.microsoft.com/office/drawing/2014/main" id="{C95BB71C-A2DD-DF1C-C384-D6096FE07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387766"/>
            <a:ext cx="5672544" cy="526298"/>
          </a:xfrm>
        </p:spPr>
        <p:txBody>
          <a:bodyPr/>
          <a:lstStyle/>
          <a:p>
            <a:r>
              <a:rPr lang="en-US" noProof="0" dirty="0"/>
              <a:t>A day in the life of a person who has ADHD (neurodivergent)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A4E8255-4EFA-75CA-BCF1-AD5F61D721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0430234" y="521099"/>
            <a:ext cx="1456966" cy="175614"/>
          </a:xfrm>
        </p:spPr>
        <p:txBody>
          <a:bodyPr/>
          <a:lstStyle/>
          <a:p>
            <a:r>
              <a:rPr lang="en-US" noProof="0" dirty="0"/>
              <a:t>Buy</a:t>
            </a:r>
          </a:p>
        </p:txBody>
      </p:sp>
      <p:sp>
        <p:nvSpPr>
          <p:cNvPr id="125" name="Text Placeholder 124">
            <a:extLst>
              <a:ext uri="{FF2B5EF4-FFF2-40B4-BE49-F238E27FC236}">
                <a16:creationId xmlns:a16="http://schemas.microsoft.com/office/drawing/2014/main" id="{055817DB-D09E-214C-398A-AD8C6DBC407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19107" y="521099"/>
            <a:ext cx="3599821" cy="169277"/>
          </a:xfrm>
        </p:spPr>
        <p:txBody>
          <a:bodyPr/>
          <a:lstStyle/>
          <a:p>
            <a:pPr lvl="0"/>
            <a:r>
              <a:rPr lang="en-US" noProof="0" dirty="0"/>
              <a:t>Microsoft 365 Copilot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BD3CD69-4A8E-9339-DDAA-B3E02F8B3F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200" y="1684713"/>
            <a:ext cx="2808000" cy="345600"/>
          </a:xfrm>
        </p:spPr>
        <p:txBody>
          <a:bodyPr/>
          <a:lstStyle/>
          <a:p>
            <a:r>
              <a:rPr lang="en-US" noProof="0" dirty="0"/>
              <a:t>9:00 am – Summarize email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E086C99-635D-945D-80CF-0BA3E3E4E3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84200" y="2128438"/>
            <a:ext cx="2808000" cy="626701"/>
          </a:xfrm>
        </p:spPr>
        <p:txBody>
          <a:bodyPr>
            <a:noAutofit/>
          </a:bodyPr>
          <a:lstStyle/>
          <a:p>
            <a:r>
              <a:rPr lang="en-US" noProof="0" dirty="0"/>
              <a:t>Jaclyn works with teams across eight countries. On Monday morning, she uses using Copilot in Outlook.to summarize her emails by country. She then asks Copilot to create her weekly schedule.</a:t>
            </a:r>
          </a:p>
        </p:txBody>
      </p:sp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B6B49D11-E54C-CBD2-C2F7-2B7DB266AE7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4200" y="3304510"/>
            <a:ext cx="2808000" cy="626701"/>
          </a:xfrm>
        </p:spPr>
        <p:txBody>
          <a:bodyPr>
            <a:normAutofit/>
          </a:bodyPr>
          <a:lstStyle/>
          <a:p>
            <a:r>
              <a:rPr lang="en-US" sz="900" kern="0" noProof="0" dirty="0">
                <a:solidFill>
                  <a:srgbClr val="1A1A1A"/>
                </a:solidFill>
                <a:latin typeface="Segoe UI"/>
              </a:rPr>
              <a:t>Sample Prompt: 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Summarize my emails by country and create my weekly schedule.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CE530499-B6CC-1DD1-CCB8-5B8FBD49844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776898" y="1684713"/>
            <a:ext cx="2808000" cy="345600"/>
          </a:xfrm>
        </p:spPr>
        <p:txBody>
          <a:bodyPr/>
          <a:lstStyle/>
          <a:p>
            <a:r>
              <a:rPr lang="en-US" noProof="0" dirty="0"/>
              <a:t>10:15 am – Translate text</a:t>
            </a:r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06BAD944-E601-87D3-250C-188E3C61B42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76898" y="2128438"/>
            <a:ext cx="2808000" cy="626701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prstClr val="black"/>
                </a:solidFill>
                <a:latin typeface="Segoe UI"/>
                <a:cs typeface="Segoe UI Semibold"/>
              </a:rPr>
              <a:t>She receives content in Polish, so she asks Copilot to translate the text into English.</a:t>
            </a:r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7E16AEDF-B4D4-9449-85EE-F796AAE1A7E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776898" y="3304510"/>
            <a:ext cx="2808000" cy="626701"/>
          </a:xfrm>
        </p:spPr>
        <p:txBody>
          <a:bodyPr>
            <a:norm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  <a:buSzTx/>
              <a:buFontTx/>
              <a:defRPr/>
            </a:pPr>
            <a:r>
              <a:rPr lang="en-US" sz="900" kern="0" noProof="0" dirty="0">
                <a:solidFill>
                  <a:srgbClr val="1A1A1A"/>
                </a:solidFill>
                <a:latin typeface="Segoe UI"/>
                <a:cs typeface="Segoe UI"/>
              </a:rPr>
              <a:t>Sample Prompt: </a:t>
            </a:r>
            <a:r>
              <a:rPr lang="en-US" b="1" dirty="0">
                <a:ln w="3175">
                  <a:noFill/>
                </a:ln>
                <a:solidFill>
                  <a:srgbClr val="000000"/>
                </a:solidFill>
                <a:latin typeface="Segoe UI"/>
                <a:cs typeface="Segoe UI"/>
              </a:rPr>
              <a:t>Summarize [text] into English.</a:t>
            </a:r>
            <a:endParaRPr lang="en-US" sz="900" i="0" u="none" strike="noStrike" cap="none" spc="0" normalizeH="0" baseline="0" noProof="0" dirty="0">
              <a:solidFill>
                <a:srgbClr val="000000"/>
              </a:solidFill>
              <a:effectLst/>
              <a:uLnTx/>
              <a:uFillTx/>
              <a:latin typeface="Segoe UI"/>
              <a:cs typeface="Segoe UI" pitchFamily="34" charset="0"/>
            </a:endParaRP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6EB33D28-8A60-C551-418C-C4BF5BFF94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969595" y="1684713"/>
            <a:ext cx="2808000" cy="345600"/>
          </a:xfrm>
        </p:spPr>
        <p:txBody>
          <a:bodyPr/>
          <a:lstStyle/>
          <a:p>
            <a:r>
              <a:rPr lang="en-US" noProof="0" dirty="0"/>
              <a:t>11:00 am – Recap a meeting</a:t>
            </a:r>
          </a:p>
        </p:txBody>
      </p:sp>
      <p:sp>
        <p:nvSpPr>
          <p:cNvPr id="79" name="Text Placeholder 78">
            <a:extLst>
              <a:ext uri="{FF2B5EF4-FFF2-40B4-BE49-F238E27FC236}">
                <a16:creationId xmlns:a16="http://schemas.microsoft.com/office/drawing/2014/main" id="{ECBEB292-6320-C259-0778-45C17B453EF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969595" y="2128438"/>
            <a:ext cx="2808000" cy="626701"/>
          </a:xfrm>
        </p:spPr>
        <p:txBody>
          <a:bodyPr>
            <a:noAutofit/>
          </a:bodyPr>
          <a:lstStyle/>
          <a:p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Segoe UI"/>
                <a:cs typeface="Segoe UI" pitchFamily="34" charset="0"/>
              </a:rPr>
              <a:t>Next, Jaclyn participates in a Teams call. She often struggles to recall action items from meetings, so she relies on Teams Meeting Recap to document them.</a:t>
            </a:r>
          </a:p>
        </p:txBody>
      </p:sp>
      <p:sp>
        <p:nvSpPr>
          <p:cNvPr id="72" name="Text Placeholder 71">
            <a:extLst>
              <a:ext uri="{FF2B5EF4-FFF2-40B4-BE49-F238E27FC236}">
                <a16:creationId xmlns:a16="http://schemas.microsoft.com/office/drawing/2014/main" id="{3F085585-DE1A-F808-CC03-BD569BCE72F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969595" y="3304510"/>
            <a:ext cx="2808000" cy="626701"/>
          </a:xfrm>
        </p:spPr>
        <p:txBody>
          <a:bodyPr/>
          <a:lstStyle/>
          <a:p>
            <a:r>
              <a:rPr lang="en-US" sz="900" kern="0" noProof="0" dirty="0">
                <a:solidFill>
                  <a:srgbClr val="1A1A1A"/>
                </a:solidFill>
                <a:latin typeface="Segoe UI"/>
              </a:rPr>
              <a:t>Sample Prompt: Following the meeting, Jaclyn selects View Recap to review meeting notes and follow-up tasks.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D5E7EEED-3BD1-EDAA-A10E-CDE11A23995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969595" y="4137995"/>
            <a:ext cx="2808000" cy="345600"/>
          </a:xfrm>
        </p:spPr>
        <p:txBody>
          <a:bodyPr/>
          <a:lstStyle/>
          <a:p>
            <a:r>
              <a:rPr lang="en-US" noProof="0" dirty="0"/>
              <a:t>1:30 am – Find documents</a:t>
            </a:r>
          </a:p>
        </p:txBody>
      </p:sp>
      <p:sp>
        <p:nvSpPr>
          <p:cNvPr id="85" name="Text Placeholder 84">
            <a:extLst>
              <a:ext uri="{FF2B5EF4-FFF2-40B4-BE49-F238E27FC236}">
                <a16:creationId xmlns:a16="http://schemas.microsoft.com/office/drawing/2014/main" id="{A381870B-853F-4DC6-4BB5-54715F98977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969125" y="4584700"/>
            <a:ext cx="2695575" cy="627063"/>
          </a:xfrm>
        </p:spPr>
        <p:txBody>
          <a:bodyPr>
            <a:normAutofit/>
          </a:bodyPr>
          <a:lstStyle/>
          <a:p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Segoe UI"/>
                <a:cs typeface="Segoe UI" pitchFamily="34" charset="0"/>
              </a:rPr>
              <a:t>Jaclyn receives content from the eight countries she works with along with outside vendors. She uses Microsoft 365 Copilot to sort through and find specific content both internal and external.</a:t>
            </a:r>
          </a:p>
        </p:txBody>
      </p:sp>
      <p:sp>
        <p:nvSpPr>
          <p:cNvPr id="211" name="Text Placeholder 210">
            <a:extLst>
              <a:ext uri="{FF2B5EF4-FFF2-40B4-BE49-F238E27FC236}">
                <a16:creationId xmlns:a16="http://schemas.microsoft.com/office/drawing/2014/main" id="{256915F1-CABD-AD7D-E581-4DFDB8072863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969125" y="5681663"/>
            <a:ext cx="2351135" cy="625475"/>
          </a:xfrm>
        </p:spPr>
        <p:txBody>
          <a:bodyPr/>
          <a:lstStyle/>
          <a:p>
            <a:r>
              <a:rPr lang="en-US" sz="900" kern="0" noProof="0" dirty="0">
                <a:solidFill>
                  <a:srgbClr val="1A1A1A"/>
                </a:solidFill>
                <a:latin typeface="Segoe UI"/>
              </a:rPr>
              <a:t>Sample Prompt: </a:t>
            </a:r>
            <a:r>
              <a:rPr kumimoji="0" lang="en-US" sz="9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Find all content about [topic].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1E9DCBA-D8C1-2FA4-4F23-4B610E3390A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76898" y="4137995"/>
            <a:ext cx="2808000" cy="345600"/>
          </a:xfrm>
        </p:spPr>
        <p:txBody>
          <a:bodyPr/>
          <a:lstStyle/>
          <a:p>
            <a:r>
              <a:rPr lang="en-US" noProof="0" dirty="0"/>
              <a:t>2:00 pm – Draft from a template</a:t>
            </a:r>
          </a:p>
        </p:txBody>
      </p:sp>
      <p:sp>
        <p:nvSpPr>
          <p:cNvPr id="83" name="Text Placeholder 82">
            <a:extLst>
              <a:ext uri="{FF2B5EF4-FFF2-40B4-BE49-F238E27FC236}">
                <a16:creationId xmlns:a16="http://schemas.microsoft.com/office/drawing/2014/main" id="{F09F5D31-BF79-540C-29C1-8391ECBD275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776898" y="4584616"/>
            <a:ext cx="2808000" cy="626701"/>
          </a:xfrm>
        </p:spPr>
        <p:txBody>
          <a:bodyPr>
            <a:noAutofit/>
          </a:bodyPr>
          <a:lstStyle/>
          <a:p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Segoe UI"/>
                <a:cs typeface="Segoe UI" pitchFamily="34" charset="0"/>
              </a:rPr>
              <a:t>Jaclyn is responsible for creating best practice documents for internal teams and vendors. She uses </a:t>
            </a:r>
            <a:r>
              <a:rPr lang="en-US" dirty="0"/>
              <a:t>Word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Segoe UI"/>
                <a:cs typeface="Segoe UI" pitchFamily="34" charset="0"/>
              </a:rPr>
              <a:t> Agent to create a draft in Word based on previous templates she has built.</a:t>
            </a:r>
          </a:p>
        </p:txBody>
      </p:sp>
      <p:sp>
        <p:nvSpPr>
          <p:cNvPr id="127" name="Text Placeholder 126">
            <a:extLst>
              <a:ext uri="{FF2B5EF4-FFF2-40B4-BE49-F238E27FC236}">
                <a16:creationId xmlns:a16="http://schemas.microsoft.com/office/drawing/2014/main" id="{C3E53DA2-C99B-77C2-DDA2-52C05AE385A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776898" y="5681038"/>
            <a:ext cx="2808000" cy="626701"/>
          </a:xfrm>
        </p:spPr>
        <p:txBody>
          <a:bodyPr/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0" noProof="0" dirty="0">
                <a:solidFill>
                  <a:srgbClr val="1A1A1A"/>
                </a:solidFill>
                <a:latin typeface="Segoe UI"/>
              </a:rPr>
              <a:t>Sample Prompt</a:t>
            </a:r>
            <a:r>
              <a:rPr lang="en-US" sz="900" b="1" kern="0" noProof="0" dirty="0">
                <a:solidFill>
                  <a:srgbClr val="1A1A1A"/>
                </a:solidFill>
                <a:latin typeface="Segoe UI"/>
              </a:rPr>
              <a:t>: </a:t>
            </a:r>
            <a:r>
              <a:rPr kumimoji="0" lang="en-US" sz="900" b="1" i="0" u="none" strike="noStrike" kern="1200" cap="none" spc="0" normalizeH="0" baseline="0" noProof="0" dirty="0">
                <a:ln w="317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Create a draft for [outline] using /[file] as a template. </a:t>
            </a:r>
          </a:p>
          <a:p>
            <a:pPr lvl="0" defTabSz="932472" fontAlgn="base">
              <a:spcBef>
                <a:spcPct val="0"/>
              </a:spcBef>
              <a:spcAft>
                <a:spcPct val="0"/>
              </a:spcAft>
              <a:buSzTx/>
              <a:defRPr/>
            </a:pPr>
            <a:r>
              <a:rPr lang="en-US" u="sng" dirty="0">
                <a:hlinkClick r:id="rId3"/>
              </a:rPr>
              <a:t>Get started with Word, Excel, and PowerPoint Agents</a:t>
            </a:r>
            <a:endParaRPr kumimoji="0" lang="en-US" sz="900" i="0" u="none" strike="noStrike" kern="1200" cap="none" spc="0" normalizeH="0" baseline="0" noProof="0" dirty="0">
              <a:ln w="3175"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B0FBDFF1-A73C-C568-141C-CA41C320403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84200" y="4137995"/>
            <a:ext cx="2808000" cy="345600"/>
          </a:xfrm>
        </p:spPr>
        <p:txBody>
          <a:bodyPr/>
          <a:lstStyle/>
          <a:p>
            <a:r>
              <a:rPr lang="en-US" noProof="0" dirty="0"/>
              <a:t>3:00 pm – Catch up on the day</a:t>
            </a:r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01D8A981-9A0B-D84E-62F4-7527A3CE1E1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84200" y="4584616"/>
            <a:ext cx="2808000" cy="626701"/>
          </a:xfrm>
        </p:spPr>
        <p:txBody>
          <a:bodyPr>
            <a:noAutofit/>
          </a:bodyPr>
          <a:lstStyle/>
          <a:p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Segoe UI"/>
                <a:cs typeface="Segoe UI" pitchFamily="34" charset="0"/>
              </a:rPr>
              <a:t>As Jaclyn wraps up her day, she asks Copilot in Teams to summarize any mentions in her teams chats that she might’ve missed during the day.</a:t>
            </a:r>
          </a:p>
        </p:txBody>
      </p:sp>
      <p:sp>
        <p:nvSpPr>
          <p:cNvPr id="148" name="Text Placeholder 147">
            <a:extLst>
              <a:ext uri="{FF2B5EF4-FFF2-40B4-BE49-F238E27FC236}">
                <a16:creationId xmlns:a16="http://schemas.microsoft.com/office/drawing/2014/main" id="{130F7942-3998-44FF-0A00-A078A901D2E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84200" y="5681038"/>
            <a:ext cx="2808000" cy="626701"/>
          </a:xfrm>
        </p:spPr>
        <p:txBody>
          <a:bodyPr/>
          <a:lstStyle/>
          <a:p>
            <a:r>
              <a:rPr lang="en-US" sz="900" kern="0" noProof="0" dirty="0">
                <a:solidFill>
                  <a:srgbClr val="1A1A1A"/>
                </a:solidFill>
                <a:latin typeface="Segoe UI"/>
              </a:rPr>
              <a:t>Sample Prompt: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Find where I have been mentioned over the past eight hours.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FB04B6F3-C6D5-3D3B-AF0B-29A1EBC7C386}"/>
              </a:ext>
            </a:extLst>
          </p:cNvPr>
          <p:cNvSpPr txBox="1"/>
          <p:nvPr/>
        </p:nvSpPr>
        <p:spPr>
          <a:xfrm>
            <a:off x="10206183" y="2740166"/>
            <a:ext cx="1905067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Jaclyn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3BC4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has ADHD and uses technology to stay organized and create content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C03BC4"/>
              </a:solidFill>
              <a:effectLst/>
              <a:uLnTx/>
              <a:uFillTx/>
              <a:latin typeface="Segoe UI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281" name="Graphic 280">
            <a:extLst>
              <a:ext uri="{FF2B5EF4-FFF2-40B4-BE49-F238E27FC236}">
                <a16:creationId xmlns:a16="http://schemas.microsoft.com/office/drawing/2014/main" id="{DA2A8308-223B-8BB3-5725-8C73CF4F53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11333010" y="4378279"/>
            <a:ext cx="274790" cy="274790"/>
          </a:xfrm>
          <a:prstGeom prst="rect">
            <a:avLst/>
          </a:prstGeom>
        </p:spPr>
      </p:pic>
      <p:sp>
        <p:nvSpPr>
          <p:cNvPr id="2" name="Rectangle: Rounded Corners 6" descr="Benefits">
            <a:extLst>
              <a:ext uri="{FF2B5EF4-FFF2-40B4-BE49-F238E27FC236}">
                <a16:creationId xmlns:a16="http://schemas.microsoft.com/office/drawing/2014/main" id="{5C8130B1-09BD-44AE-1CE9-B1CC110E0AD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76356" y="1136981"/>
            <a:ext cx="659514" cy="216000"/>
          </a:xfrm>
          <a:prstGeom prst="roundRect">
            <a:avLst>
              <a:gd name="adj" fmla="val 50000"/>
            </a:avLst>
          </a:prstGeom>
          <a:solidFill>
            <a:srgbClr val="FFA38B"/>
          </a:solidFill>
          <a:ln w="12700">
            <a:solidFill>
              <a:srgbClr val="FFA38B"/>
            </a:solidFill>
            <a:headEnd type="none" w="med" len="med"/>
            <a:tailEnd type="none" w="med" len="med"/>
          </a:ln>
          <a:effectLst>
            <a:outerShdw blurRad="63500" dist="63500" dir="2700000" rotWithShape="0">
              <a:srgbClr val="454142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8288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Benefits</a:t>
            </a:r>
          </a:p>
        </p:txBody>
      </p:sp>
      <p:sp>
        <p:nvSpPr>
          <p:cNvPr id="16" name="Rectangle: Rounded Corners 6" descr="Areas of investment: better understand tone">
            <a:extLst>
              <a:ext uri="{FF2B5EF4-FFF2-40B4-BE49-F238E27FC236}">
                <a16:creationId xmlns:a16="http://schemas.microsoft.com/office/drawing/2014/main" id="{483BBE69-8D8A-3851-A022-141B920BB3F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1366317" y="1136981"/>
            <a:ext cx="1554480" cy="21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A38B"/>
            </a:solidFill>
            <a:headEnd type="none" w="med" len="med"/>
            <a:tailEnd type="none" w="med" len="med"/>
          </a:ln>
          <a:effectLst>
            <a:outerShdw blurRad="63500" dist="63500" dir="2700000" rotWithShape="0">
              <a:srgbClr val="454142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18288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3391D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Reduce cognitive load</a:t>
            </a:r>
          </a:p>
        </p:txBody>
      </p:sp>
      <p:sp>
        <p:nvSpPr>
          <p:cNvPr id="24" name="Rectangle: Rounded Corners 6" descr="Asking additional questions">
            <a:extLst>
              <a:ext uri="{FF2B5EF4-FFF2-40B4-BE49-F238E27FC236}">
                <a16:creationId xmlns:a16="http://schemas.microsoft.com/office/drawing/2014/main" id="{7EE23884-FBBD-AC71-6C63-C02F2724F4C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3058149" y="1136981"/>
            <a:ext cx="1920240" cy="21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A38B"/>
            </a:solidFill>
            <a:headEnd type="none" w="med" len="med"/>
            <a:tailEnd type="none" w="med" len="med"/>
          </a:ln>
          <a:effectLst>
            <a:outerShdw blurRad="63500" dist="63500" dir="2700000" rotWithShape="0">
              <a:srgbClr val="454142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18288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3391D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Asking additional questions</a:t>
            </a:r>
          </a:p>
        </p:txBody>
      </p:sp>
      <p:sp>
        <p:nvSpPr>
          <p:cNvPr id="25" name="Graphic 20">
            <a:extLst>
              <a:ext uri="{FF2B5EF4-FFF2-40B4-BE49-F238E27FC236}">
                <a16:creationId xmlns:a16="http://schemas.microsoft.com/office/drawing/2014/main" id="{A5A1C33E-0612-1AC6-3B8E-E42417F41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17281" y="1187529"/>
            <a:ext cx="119982" cy="114904"/>
          </a:xfrm>
          <a:custGeom>
            <a:avLst/>
            <a:gdLst>
              <a:gd name="connsiteX0" fmla="*/ 52728 w 119982"/>
              <a:gd name="connsiteY0" fmla="*/ 4518 h 114904"/>
              <a:gd name="connsiteX1" fmla="*/ 67254 w 119982"/>
              <a:gd name="connsiteY1" fmla="*/ 4518 h 114904"/>
              <a:gd name="connsiteX2" fmla="*/ 81402 w 119982"/>
              <a:gd name="connsiteY2" fmla="*/ 33180 h 114904"/>
              <a:gd name="connsiteX3" fmla="*/ 113040 w 119982"/>
              <a:gd name="connsiteY3" fmla="*/ 37776 h 114904"/>
              <a:gd name="connsiteX4" fmla="*/ 117528 w 119982"/>
              <a:gd name="connsiteY4" fmla="*/ 51594 h 114904"/>
              <a:gd name="connsiteX5" fmla="*/ 94632 w 119982"/>
              <a:gd name="connsiteY5" fmla="*/ 73914 h 114904"/>
              <a:gd name="connsiteX6" fmla="*/ 100038 w 119982"/>
              <a:gd name="connsiteY6" fmla="*/ 105414 h 114904"/>
              <a:gd name="connsiteX7" fmla="*/ 88284 w 119982"/>
              <a:gd name="connsiteY7" fmla="*/ 113958 h 114904"/>
              <a:gd name="connsiteX8" fmla="*/ 59988 w 119982"/>
              <a:gd name="connsiteY8" fmla="*/ 99078 h 114904"/>
              <a:gd name="connsiteX9" fmla="*/ 31698 w 119982"/>
              <a:gd name="connsiteY9" fmla="*/ 113958 h 114904"/>
              <a:gd name="connsiteX10" fmla="*/ 19938 w 119982"/>
              <a:gd name="connsiteY10" fmla="*/ 105414 h 114904"/>
              <a:gd name="connsiteX11" fmla="*/ 25344 w 119982"/>
              <a:gd name="connsiteY11" fmla="*/ 73914 h 114904"/>
              <a:gd name="connsiteX12" fmla="*/ 2454 w 119982"/>
              <a:gd name="connsiteY12" fmla="*/ 51594 h 114904"/>
              <a:gd name="connsiteX13" fmla="*/ 6942 w 119982"/>
              <a:gd name="connsiteY13" fmla="*/ 37776 h 114904"/>
              <a:gd name="connsiteX14" fmla="*/ 38580 w 119982"/>
              <a:gd name="connsiteY14" fmla="*/ 33180 h 114904"/>
              <a:gd name="connsiteX15" fmla="*/ 52728 w 119982"/>
              <a:gd name="connsiteY15" fmla="*/ 4518 h 114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9982" h="114904">
                <a:moveTo>
                  <a:pt x="52728" y="4518"/>
                </a:moveTo>
                <a:cubicBezTo>
                  <a:pt x="55698" y="-1506"/>
                  <a:pt x="64284" y="-1506"/>
                  <a:pt x="67254" y="4518"/>
                </a:cubicBezTo>
                <a:lnTo>
                  <a:pt x="81402" y="33180"/>
                </a:lnTo>
                <a:lnTo>
                  <a:pt x="113040" y="37776"/>
                </a:lnTo>
                <a:cubicBezTo>
                  <a:pt x="119682" y="38742"/>
                  <a:pt x="122334" y="46908"/>
                  <a:pt x="117528" y="51594"/>
                </a:cubicBezTo>
                <a:lnTo>
                  <a:pt x="94632" y="73914"/>
                </a:lnTo>
                <a:lnTo>
                  <a:pt x="100038" y="105414"/>
                </a:lnTo>
                <a:cubicBezTo>
                  <a:pt x="101178" y="112032"/>
                  <a:pt x="94230" y="117078"/>
                  <a:pt x="88284" y="113958"/>
                </a:cubicBezTo>
                <a:lnTo>
                  <a:pt x="59988" y="99078"/>
                </a:lnTo>
                <a:lnTo>
                  <a:pt x="31698" y="113958"/>
                </a:lnTo>
                <a:cubicBezTo>
                  <a:pt x="25758" y="117078"/>
                  <a:pt x="18810" y="112038"/>
                  <a:pt x="19938" y="105414"/>
                </a:cubicBezTo>
                <a:lnTo>
                  <a:pt x="25344" y="73914"/>
                </a:lnTo>
                <a:lnTo>
                  <a:pt x="2454" y="51594"/>
                </a:lnTo>
                <a:cubicBezTo>
                  <a:pt x="-2352" y="46914"/>
                  <a:pt x="300" y="38742"/>
                  <a:pt x="6942" y="37776"/>
                </a:cubicBezTo>
                <a:lnTo>
                  <a:pt x="38580" y="33180"/>
                </a:lnTo>
                <a:lnTo>
                  <a:pt x="52728" y="4518"/>
                </a:lnTo>
                <a:close/>
              </a:path>
            </a:pathLst>
          </a:custGeom>
          <a:solidFill>
            <a:srgbClr val="FFA38B"/>
          </a:solidFill>
          <a:ln w="595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6" name="Graphic 24">
            <a:extLst>
              <a:ext uri="{FF2B5EF4-FFF2-40B4-BE49-F238E27FC236}">
                <a16:creationId xmlns:a16="http://schemas.microsoft.com/office/drawing/2014/main" id="{8123A2DF-4AAF-02D1-77D2-E50351E28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4153" y="1176009"/>
            <a:ext cx="108001" cy="137945"/>
          </a:xfrm>
          <a:custGeom>
            <a:avLst/>
            <a:gdLst>
              <a:gd name="connsiteX0" fmla="*/ 78310 w 108001"/>
              <a:gd name="connsiteY0" fmla="*/ 27194 h 137945"/>
              <a:gd name="connsiteX1" fmla="*/ 79444 w 108001"/>
              <a:gd name="connsiteY1" fmla="*/ 35600 h 137945"/>
              <a:gd name="connsiteX2" fmla="*/ 87403 w 108001"/>
              <a:gd name="connsiteY2" fmla="*/ 94478 h 137945"/>
              <a:gd name="connsiteX3" fmla="*/ 60502 w 108001"/>
              <a:gd name="connsiteY3" fmla="*/ 110522 h 137945"/>
              <a:gd name="connsiteX4" fmla="*/ 64756 w 108001"/>
              <a:gd name="connsiteY4" fmla="*/ 106262 h 137945"/>
              <a:gd name="connsiteX5" fmla="*/ 64608 w 108001"/>
              <a:gd name="connsiteY5" fmla="*/ 97778 h 137945"/>
              <a:gd name="connsiteX6" fmla="*/ 56272 w 108001"/>
              <a:gd name="connsiteY6" fmla="*/ 97778 h 137945"/>
              <a:gd name="connsiteX7" fmla="*/ 41272 w 108001"/>
              <a:gd name="connsiteY7" fmla="*/ 112778 h 137945"/>
              <a:gd name="connsiteX8" fmla="*/ 41272 w 108001"/>
              <a:gd name="connsiteY8" fmla="*/ 121262 h 137945"/>
              <a:gd name="connsiteX9" fmla="*/ 56272 w 108001"/>
              <a:gd name="connsiteY9" fmla="*/ 136262 h 137945"/>
              <a:gd name="connsiteX10" fmla="*/ 64756 w 108001"/>
              <a:gd name="connsiteY10" fmla="*/ 136114 h 137945"/>
              <a:gd name="connsiteX11" fmla="*/ 64756 w 108001"/>
              <a:gd name="connsiteY11" fmla="*/ 127778 h 137945"/>
              <a:gd name="connsiteX12" fmla="*/ 59698 w 108001"/>
              <a:gd name="connsiteY12" fmla="*/ 122726 h 137945"/>
              <a:gd name="connsiteX13" fmla="*/ 107695 w 108001"/>
              <a:gd name="connsiteY13" fmla="*/ 63315 h 137945"/>
              <a:gd name="connsiteX14" fmla="*/ 86716 w 108001"/>
              <a:gd name="connsiteY14" fmla="*/ 26060 h 137945"/>
              <a:gd name="connsiteX15" fmla="*/ 78310 w 108001"/>
              <a:gd name="connsiteY15" fmla="*/ 27194 h 137945"/>
              <a:gd name="connsiteX16" fmla="*/ 66730 w 108001"/>
              <a:gd name="connsiteY16" fmla="*/ 16778 h 137945"/>
              <a:gd name="connsiteX17" fmla="*/ 51730 w 108001"/>
              <a:gd name="connsiteY17" fmla="*/ 1778 h 137945"/>
              <a:gd name="connsiteX18" fmla="*/ 43245 w 108001"/>
              <a:gd name="connsiteY18" fmla="*/ 1737 h 137945"/>
              <a:gd name="connsiteX19" fmla="*/ 42742 w 108001"/>
              <a:gd name="connsiteY19" fmla="*/ 9698 h 137945"/>
              <a:gd name="connsiteX20" fmla="*/ 43240 w 108001"/>
              <a:gd name="connsiteY20" fmla="*/ 10262 h 137945"/>
              <a:gd name="connsiteX21" fmla="*/ 48298 w 108001"/>
              <a:gd name="connsiteY21" fmla="*/ 15320 h 137945"/>
              <a:gd name="connsiteX22" fmla="*/ 307 w 108001"/>
              <a:gd name="connsiteY22" fmla="*/ 74735 h 137945"/>
              <a:gd name="connsiteX23" fmla="*/ 19630 w 108001"/>
              <a:gd name="connsiteY23" fmla="*/ 110672 h 137945"/>
              <a:gd name="connsiteX24" fmla="*/ 28058 w 108001"/>
              <a:gd name="connsiteY24" fmla="*/ 109690 h 137945"/>
              <a:gd name="connsiteX25" fmla="*/ 27268 w 108001"/>
              <a:gd name="connsiteY25" fmla="*/ 101420 h 137945"/>
              <a:gd name="connsiteX26" fmla="*/ 21624 w 108001"/>
              <a:gd name="connsiteY26" fmla="*/ 42274 h 137945"/>
              <a:gd name="connsiteX27" fmla="*/ 47488 w 108001"/>
              <a:gd name="connsiteY27" fmla="*/ 27524 h 137945"/>
              <a:gd name="connsiteX28" fmla="*/ 43240 w 108001"/>
              <a:gd name="connsiteY28" fmla="*/ 31778 h 137945"/>
              <a:gd name="connsiteX29" fmla="*/ 43254 w 108001"/>
              <a:gd name="connsiteY29" fmla="*/ 40263 h 137945"/>
              <a:gd name="connsiteX30" fmla="*/ 51160 w 108001"/>
              <a:gd name="connsiteY30" fmla="*/ 40760 h 137945"/>
              <a:gd name="connsiteX31" fmla="*/ 51724 w 108001"/>
              <a:gd name="connsiteY31" fmla="*/ 40262 h 137945"/>
              <a:gd name="connsiteX32" fmla="*/ 66724 w 108001"/>
              <a:gd name="connsiteY32" fmla="*/ 25262 h 137945"/>
              <a:gd name="connsiteX33" fmla="*/ 67222 w 108001"/>
              <a:gd name="connsiteY33" fmla="*/ 17342 h 137945"/>
              <a:gd name="connsiteX34" fmla="*/ 66724 w 108001"/>
              <a:gd name="connsiteY34" fmla="*/ 16778 h 137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8001" h="137945">
                <a:moveTo>
                  <a:pt x="78310" y="27194"/>
                </a:moveTo>
                <a:cubicBezTo>
                  <a:pt x="76303" y="29828"/>
                  <a:pt x="76811" y="33591"/>
                  <a:pt x="79444" y="35600"/>
                </a:cubicBezTo>
                <a:cubicBezTo>
                  <a:pt x="97901" y="49661"/>
                  <a:pt x="101464" y="76022"/>
                  <a:pt x="87403" y="94478"/>
                </a:cubicBezTo>
                <a:cubicBezTo>
                  <a:pt x="80839" y="103094"/>
                  <a:pt x="71202" y="108841"/>
                  <a:pt x="60502" y="110522"/>
                </a:cubicBezTo>
                <a:lnTo>
                  <a:pt x="64756" y="106262"/>
                </a:lnTo>
                <a:cubicBezTo>
                  <a:pt x="67058" y="103878"/>
                  <a:pt x="66992" y="100080"/>
                  <a:pt x="64608" y="97778"/>
                </a:cubicBezTo>
                <a:cubicBezTo>
                  <a:pt x="62283" y="95532"/>
                  <a:pt x="58597" y="95532"/>
                  <a:pt x="56272" y="97778"/>
                </a:cubicBezTo>
                <a:lnTo>
                  <a:pt x="41272" y="112778"/>
                </a:lnTo>
                <a:cubicBezTo>
                  <a:pt x="38930" y="115121"/>
                  <a:pt x="38930" y="118919"/>
                  <a:pt x="41272" y="121262"/>
                </a:cubicBezTo>
                <a:lnTo>
                  <a:pt x="56272" y="136262"/>
                </a:lnTo>
                <a:cubicBezTo>
                  <a:pt x="58656" y="138564"/>
                  <a:pt x="62454" y="138498"/>
                  <a:pt x="64756" y="136114"/>
                </a:cubicBezTo>
                <a:cubicBezTo>
                  <a:pt x="67002" y="133789"/>
                  <a:pt x="67002" y="130103"/>
                  <a:pt x="64756" y="127778"/>
                </a:cubicBezTo>
                <a:lnTo>
                  <a:pt x="59698" y="122726"/>
                </a:lnTo>
                <a:cubicBezTo>
                  <a:pt x="89358" y="119574"/>
                  <a:pt x="110847" y="92975"/>
                  <a:pt x="107695" y="63315"/>
                </a:cubicBezTo>
                <a:cubicBezTo>
                  <a:pt x="106125" y="48540"/>
                  <a:pt x="98537" y="35063"/>
                  <a:pt x="86716" y="26060"/>
                </a:cubicBezTo>
                <a:cubicBezTo>
                  <a:pt x="84081" y="24053"/>
                  <a:pt x="80319" y="24560"/>
                  <a:pt x="78310" y="27194"/>
                </a:cubicBezTo>
                <a:close/>
                <a:moveTo>
                  <a:pt x="66730" y="16778"/>
                </a:moveTo>
                <a:lnTo>
                  <a:pt x="51730" y="1778"/>
                </a:lnTo>
                <a:cubicBezTo>
                  <a:pt x="49398" y="-577"/>
                  <a:pt x="45599" y="-595"/>
                  <a:pt x="43245" y="1737"/>
                </a:cubicBezTo>
                <a:cubicBezTo>
                  <a:pt x="41083" y="3879"/>
                  <a:pt x="40866" y="7301"/>
                  <a:pt x="42742" y="9698"/>
                </a:cubicBezTo>
                <a:lnTo>
                  <a:pt x="43240" y="10262"/>
                </a:lnTo>
                <a:lnTo>
                  <a:pt x="48298" y="15320"/>
                </a:lnTo>
                <a:cubicBezTo>
                  <a:pt x="18639" y="18474"/>
                  <a:pt x="-2847" y="45076"/>
                  <a:pt x="307" y="74735"/>
                </a:cubicBezTo>
                <a:cubicBezTo>
                  <a:pt x="1801" y="88780"/>
                  <a:pt x="8738" y="101680"/>
                  <a:pt x="19630" y="110672"/>
                </a:cubicBezTo>
                <a:cubicBezTo>
                  <a:pt x="22229" y="112728"/>
                  <a:pt x="26002" y="112289"/>
                  <a:pt x="28058" y="109690"/>
                </a:cubicBezTo>
                <a:cubicBezTo>
                  <a:pt x="30055" y="107167"/>
                  <a:pt x="29706" y="103518"/>
                  <a:pt x="27268" y="101420"/>
                </a:cubicBezTo>
                <a:cubicBezTo>
                  <a:pt x="9377" y="86646"/>
                  <a:pt x="6850" y="60165"/>
                  <a:pt x="21624" y="42274"/>
                </a:cubicBezTo>
                <a:cubicBezTo>
                  <a:pt x="28155" y="34365"/>
                  <a:pt x="37355" y="29118"/>
                  <a:pt x="47488" y="27524"/>
                </a:cubicBezTo>
                <a:lnTo>
                  <a:pt x="43240" y="31778"/>
                </a:lnTo>
                <a:cubicBezTo>
                  <a:pt x="40901" y="34125"/>
                  <a:pt x="40907" y="37924"/>
                  <a:pt x="43254" y="40263"/>
                </a:cubicBezTo>
                <a:cubicBezTo>
                  <a:pt x="45390" y="42392"/>
                  <a:pt x="48774" y="42604"/>
                  <a:pt x="51160" y="40760"/>
                </a:cubicBezTo>
                <a:lnTo>
                  <a:pt x="51724" y="40262"/>
                </a:lnTo>
                <a:lnTo>
                  <a:pt x="66724" y="25262"/>
                </a:lnTo>
                <a:cubicBezTo>
                  <a:pt x="68861" y="23124"/>
                  <a:pt x="69075" y="19730"/>
                  <a:pt x="67222" y="17342"/>
                </a:cubicBezTo>
                <a:lnTo>
                  <a:pt x="66724" y="16778"/>
                </a:lnTo>
                <a:close/>
              </a:path>
            </a:pathLst>
          </a:custGeom>
          <a:solidFill>
            <a:srgbClr val="FFA38B"/>
          </a:solidFill>
          <a:ln w="595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7" name="Rectangle: Rounded Corners 26" descr="Asking additional questions">
            <a:extLst>
              <a:ext uri="{FF2B5EF4-FFF2-40B4-BE49-F238E27FC236}">
                <a16:creationId xmlns:a16="http://schemas.microsoft.com/office/drawing/2014/main" id="{AE04F089-80C1-3FD9-4CF6-8F73F8C8F61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 bwMode="auto">
          <a:xfrm>
            <a:off x="5177679" y="1136981"/>
            <a:ext cx="2468880" cy="21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A38B"/>
            </a:solidFill>
            <a:headEnd type="none" w="med" len="med"/>
            <a:tailEnd type="none" w="med" len="med"/>
          </a:ln>
          <a:effectLst>
            <a:outerShdw blurRad="63500" dist="63500" dir="2700000" rotWithShape="0">
              <a:srgbClr val="454142">
                <a:alpha val="20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000" tIns="18288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73391D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 improve organization and prioritization</a:t>
            </a:r>
          </a:p>
        </p:txBody>
      </p:sp>
      <p:sp>
        <p:nvSpPr>
          <p:cNvPr id="28" name="Graphic 20">
            <a:extLst>
              <a:ext uri="{FF2B5EF4-FFF2-40B4-BE49-F238E27FC236}">
                <a16:creationId xmlns:a16="http://schemas.microsoft.com/office/drawing/2014/main" id="{09B95B74-7B7F-1269-14B2-BEE0F245A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36811" y="1187529"/>
            <a:ext cx="119982" cy="114904"/>
          </a:xfrm>
          <a:custGeom>
            <a:avLst/>
            <a:gdLst>
              <a:gd name="connsiteX0" fmla="*/ 52728 w 119982"/>
              <a:gd name="connsiteY0" fmla="*/ 4518 h 114904"/>
              <a:gd name="connsiteX1" fmla="*/ 67254 w 119982"/>
              <a:gd name="connsiteY1" fmla="*/ 4518 h 114904"/>
              <a:gd name="connsiteX2" fmla="*/ 81402 w 119982"/>
              <a:gd name="connsiteY2" fmla="*/ 33180 h 114904"/>
              <a:gd name="connsiteX3" fmla="*/ 113040 w 119982"/>
              <a:gd name="connsiteY3" fmla="*/ 37776 h 114904"/>
              <a:gd name="connsiteX4" fmla="*/ 117528 w 119982"/>
              <a:gd name="connsiteY4" fmla="*/ 51594 h 114904"/>
              <a:gd name="connsiteX5" fmla="*/ 94632 w 119982"/>
              <a:gd name="connsiteY5" fmla="*/ 73914 h 114904"/>
              <a:gd name="connsiteX6" fmla="*/ 100038 w 119982"/>
              <a:gd name="connsiteY6" fmla="*/ 105414 h 114904"/>
              <a:gd name="connsiteX7" fmla="*/ 88284 w 119982"/>
              <a:gd name="connsiteY7" fmla="*/ 113958 h 114904"/>
              <a:gd name="connsiteX8" fmla="*/ 59988 w 119982"/>
              <a:gd name="connsiteY8" fmla="*/ 99078 h 114904"/>
              <a:gd name="connsiteX9" fmla="*/ 31698 w 119982"/>
              <a:gd name="connsiteY9" fmla="*/ 113958 h 114904"/>
              <a:gd name="connsiteX10" fmla="*/ 19938 w 119982"/>
              <a:gd name="connsiteY10" fmla="*/ 105414 h 114904"/>
              <a:gd name="connsiteX11" fmla="*/ 25344 w 119982"/>
              <a:gd name="connsiteY11" fmla="*/ 73914 h 114904"/>
              <a:gd name="connsiteX12" fmla="*/ 2454 w 119982"/>
              <a:gd name="connsiteY12" fmla="*/ 51594 h 114904"/>
              <a:gd name="connsiteX13" fmla="*/ 6942 w 119982"/>
              <a:gd name="connsiteY13" fmla="*/ 37776 h 114904"/>
              <a:gd name="connsiteX14" fmla="*/ 38580 w 119982"/>
              <a:gd name="connsiteY14" fmla="*/ 33180 h 114904"/>
              <a:gd name="connsiteX15" fmla="*/ 52728 w 119982"/>
              <a:gd name="connsiteY15" fmla="*/ 4518 h 114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9982" h="114904">
                <a:moveTo>
                  <a:pt x="52728" y="4518"/>
                </a:moveTo>
                <a:cubicBezTo>
                  <a:pt x="55698" y="-1506"/>
                  <a:pt x="64284" y="-1506"/>
                  <a:pt x="67254" y="4518"/>
                </a:cubicBezTo>
                <a:lnTo>
                  <a:pt x="81402" y="33180"/>
                </a:lnTo>
                <a:lnTo>
                  <a:pt x="113040" y="37776"/>
                </a:lnTo>
                <a:cubicBezTo>
                  <a:pt x="119682" y="38742"/>
                  <a:pt x="122334" y="46908"/>
                  <a:pt x="117528" y="51594"/>
                </a:cubicBezTo>
                <a:lnTo>
                  <a:pt x="94632" y="73914"/>
                </a:lnTo>
                <a:lnTo>
                  <a:pt x="100038" y="105414"/>
                </a:lnTo>
                <a:cubicBezTo>
                  <a:pt x="101178" y="112032"/>
                  <a:pt x="94230" y="117078"/>
                  <a:pt x="88284" y="113958"/>
                </a:cubicBezTo>
                <a:lnTo>
                  <a:pt x="59988" y="99078"/>
                </a:lnTo>
                <a:lnTo>
                  <a:pt x="31698" y="113958"/>
                </a:lnTo>
                <a:cubicBezTo>
                  <a:pt x="25758" y="117078"/>
                  <a:pt x="18810" y="112038"/>
                  <a:pt x="19938" y="105414"/>
                </a:cubicBezTo>
                <a:lnTo>
                  <a:pt x="25344" y="73914"/>
                </a:lnTo>
                <a:lnTo>
                  <a:pt x="2454" y="51594"/>
                </a:lnTo>
                <a:cubicBezTo>
                  <a:pt x="-2352" y="46914"/>
                  <a:pt x="300" y="38742"/>
                  <a:pt x="6942" y="37776"/>
                </a:cubicBezTo>
                <a:lnTo>
                  <a:pt x="38580" y="33180"/>
                </a:lnTo>
                <a:lnTo>
                  <a:pt x="52728" y="4518"/>
                </a:lnTo>
                <a:close/>
              </a:path>
            </a:pathLst>
          </a:custGeom>
          <a:solidFill>
            <a:srgbClr val="FFA38B"/>
          </a:solidFill>
          <a:ln w="5953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29" name="Picture 28" descr=" office setting where a person is seated at a white desk. They are working on a computer with a large monitor, and there is also a tablet or laptop on the desk. To the right, there is a plant and some file folders in a holder. The background features windows with partially drawn blinds, allowing some light to enter the room.">
            <a:extLst>
              <a:ext uri="{FF2B5EF4-FFF2-40B4-BE49-F238E27FC236}">
                <a16:creationId xmlns:a16="http://schemas.microsoft.com/office/drawing/2014/main" id="{9B9E3890-75BA-86A1-0665-BD4C87B12A5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7421" y="5177230"/>
            <a:ext cx="2534579" cy="169054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A22AA93-D9B5-212F-9A72-EE4BDAEC101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7798213" y="2939255"/>
            <a:ext cx="1892184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Copilot in Teams</a:t>
            </a:r>
            <a:endParaRPr kumimoji="0" lang="en-US" sz="10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742A58-4F22-567F-E1C6-F7F44D02E3C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511262" y="2939255"/>
            <a:ext cx="1371253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Copilot Chat</a:t>
            </a:r>
            <a:r>
              <a:rPr kumimoji="0" lang="en-US" sz="1000" b="0" i="0" u="none" strike="noStrike" kern="0" cap="none" spc="0" normalizeH="0" baseline="3000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pic>
        <p:nvPicPr>
          <p:cNvPr id="35" name="Picture 34">
            <a:hlinkClick r:id="rId7"/>
            <a:extLst>
              <a:ext uri="{FF2B5EF4-FFF2-40B4-BE49-F238E27FC236}">
                <a16:creationId xmlns:a16="http://schemas.microsoft.com/office/drawing/2014/main" id="{021A8548-BF00-6F5E-9E49-4602BD811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3278" t="-53646" r="-43278" b="-53646"/>
          <a:stretch/>
        </p:blipFill>
        <p:spPr bwMode="auto">
          <a:xfrm>
            <a:off x="4052312" y="2836199"/>
            <a:ext cx="360000" cy="360000"/>
          </a:xfrm>
          <a:prstGeom prst="ellipse">
            <a:avLst/>
          </a:prstGeom>
          <a:solidFill>
            <a:srgbClr val="FFFFFF"/>
          </a:solidFill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2CD430E-6786-11D1-92EC-1E92855F625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1336843" y="2939255"/>
            <a:ext cx="1264902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Copilot in Outlook</a:t>
            </a:r>
            <a:endParaRPr kumimoji="0" lang="en-US" sz="10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28F872-40C1-C623-4CFF-43B7CAFD79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1212081" y="5332001"/>
            <a:ext cx="1892184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Copilot in Teams</a:t>
            </a:r>
            <a:endParaRPr kumimoji="0" lang="en-US" sz="10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0359A0-4699-96DC-2A5B-D75884C4BB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4461037" y="5332001"/>
            <a:ext cx="1892184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Word Agent</a:t>
            </a:r>
            <a:endParaRPr kumimoji="0" lang="en-US" sz="10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E5566A-0F90-04CF-F905-79D832B5BE7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7862865" y="5332001"/>
            <a:ext cx="1371253" cy="153888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Copilot Chat</a:t>
            </a:r>
            <a:r>
              <a:rPr kumimoji="0" lang="en-US" sz="1000" b="0" i="0" u="none" strike="noStrike" kern="0" cap="none" spc="0" normalizeH="0" baseline="3000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rPr>
              <a:t>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pic>
        <p:nvPicPr>
          <p:cNvPr id="48" name="Picture 47">
            <a:hlinkClick r:id="rId7"/>
            <a:extLst>
              <a:ext uri="{FF2B5EF4-FFF2-40B4-BE49-F238E27FC236}">
                <a16:creationId xmlns:a16="http://schemas.microsoft.com/office/drawing/2014/main" id="{1E674C8F-5C02-05DE-213A-B0AF27D7D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3278" t="-53646" r="-43278" b="-53646"/>
          <a:stretch/>
        </p:blipFill>
        <p:spPr bwMode="auto">
          <a:xfrm>
            <a:off x="7403915" y="5228945"/>
            <a:ext cx="360000" cy="360000"/>
          </a:xfrm>
          <a:prstGeom prst="ellipse">
            <a:avLst/>
          </a:prstGeom>
          <a:solidFill>
            <a:srgbClr val="FFFFFF"/>
          </a:solidFill>
        </p:spPr>
      </p:pic>
      <p:pic>
        <p:nvPicPr>
          <p:cNvPr id="3" name="Picture 2" descr="Word logo">
            <a:extLst>
              <a:ext uri="{FF2B5EF4-FFF2-40B4-BE49-F238E27FC236}">
                <a16:creationId xmlns:a16="http://schemas.microsoft.com/office/drawing/2014/main" id="{CC92B20B-376B-08D3-54E2-10BFDB726C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9024" y="5283178"/>
            <a:ext cx="246576" cy="246576"/>
          </a:xfrm>
          <a:prstGeom prst="ellipse">
            <a:avLst/>
          </a:prstGeom>
          <a:solidFill>
            <a:srgbClr val="FFFFFF"/>
          </a:solidFill>
        </p:spPr>
      </p:pic>
      <p:pic>
        <p:nvPicPr>
          <p:cNvPr id="4" name="Picture 3" descr="Outlook logo">
            <a:extLst>
              <a:ext uri="{FF2B5EF4-FFF2-40B4-BE49-F238E27FC236}">
                <a16:creationId xmlns:a16="http://schemas.microsoft.com/office/drawing/2014/main" id="{E69C090F-F0C0-E9B0-9A6E-3FF59A8A8E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542" y="2883611"/>
            <a:ext cx="265176" cy="265176"/>
          </a:xfrm>
          <a:prstGeom prst="rect">
            <a:avLst/>
          </a:prstGeom>
        </p:spPr>
      </p:pic>
      <p:pic>
        <p:nvPicPr>
          <p:cNvPr id="5" name="Picture 4" descr="Teams logo">
            <a:extLst>
              <a:ext uri="{FF2B5EF4-FFF2-40B4-BE49-F238E27FC236}">
                <a16:creationId xmlns:a16="http://schemas.microsoft.com/office/drawing/2014/main" id="{1B08BDE8-281B-D0E9-8A43-39E86ECFE9D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8778" y="5273878"/>
            <a:ext cx="265176" cy="265176"/>
          </a:xfrm>
          <a:prstGeom prst="rect">
            <a:avLst/>
          </a:prstGeom>
        </p:spPr>
      </p:pic>
      <p:pic>
        <p:nvPicPr>
          <p:cNvPr id="6" name="Picture 5" descr="Teams logo">
            <a:extLst>
              <a:ext uri="{FF2B5EF4-FFF2-40B4-BE49-F238E27FC236}">
                <a16:creationId xmlns:a16="http://schemas.microsoft.com/office/drawing/2014/main" id="{5C571763-9F50-C37C-B5A0-568CC5DF6A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51327" y="2883560"/>
            <a:ext cx="265176" cy="26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6547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Light 16x9">
  <a:themeElements>
    <a:clrScheme name="Custom 7">
      <a:dk1>
        <a:srgbClr val="000000"/>
      </a:dk1>
      <a:lt1>
        <a:srgbClr val="FFFFFF"/>
      </a:lt1>
      <a:dk2>
        <a:srgbClr val="463668"/>
      </a:dk2>
      <a:lt2>
        <a:srgbClr val="E8E6DF"/>
      </a:lt2>
      <a:accent1>
        <a:srgbClr val="463668"/>
      </a:accent1>
      <a:accent2>
        <a:srgbClr val="C5B4E3"/>
      </a:accent2>
      <a:accent3>
        <a:srgbClr val="C03BC4"/>
      </a:accent3>
      <a:accent4>
        <a:srgbClr val="8C8279"/>
      </a:accent4>
      <a:accent5>
        <a:srgbClr val="D59ED7"/>
      </a:accent5>
      <a:accent6>
        <a:srgbClr val="D7D2CB"/>
      </a:accent6>
      <a:hlink>
        <a:srgbClr val="8661C5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 brand template starter - 16x9 v04.potx" id="{4908BB59-E0F9-4262-9337-B2D75939F852}" vid="{C1F6406B-B671-42E9-A581-A06DD50715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366</Words>
  <Application>Microsoft Office PowerPoint</Application>
  <PresentationFormat>Widescreen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Segoe UI</vt:lpstr>
      <vt:lpstr>Segoe UI Semibold</vt:lpstr>
      <vt:lpstr>Wingdings</vt:lpstr>
      <vt:lpstr>Light 16x9</vt:lpstr>
      <vt:lpstr>A day in the life of a person who has ADHD (neurodivergent)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2026-01-15T22:07:23Z</dcterms:created>
  <dcterms:modified xsi:type="dcterms:W3CDTF">2026-01-16T17:51:56Z</dcterms:modified>
</cp:coreProperties>
</file>