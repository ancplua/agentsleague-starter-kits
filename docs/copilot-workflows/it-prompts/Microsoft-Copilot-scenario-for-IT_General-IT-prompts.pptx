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3"/>
  </p:notesMasterIdLst>
  <p:sldIdLst>
    <p:sldId id="52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EA553-41F0-4ADE-9C17-0B79119E7394}" v="1" dt="2026-01-15T22:01:45.774"/>
    <p1510:client id="{97D9914F-BBC1-4220-BA84-1BBA1DE90E18}" v="221" dt="2026-01-15T01:47:46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26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10360-7F2B-43B7-AE47-3D95E72B02E5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86178-B4BC-4168-845A-05655C68B0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copilot.com/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copilot.com/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copilot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quare photo 2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spiral&#10;&#10;Description automatically generated">
            <a:extLst>
              <a:ext uri="{FF2B5EF4-FFF2-40B4-BE49-F238E27FC236}">
                <a16:creationId xmlns:a16="http://schemas.microsoft.com/office/drawing/2014/main" id="{361D5F98-BDD8-425B-488B-22D9DCB803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8D8C93-A68F-427F-AC31-AE3104AD11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17984"/>
            <a:ext cx="7758903" cy="615553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7752752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4D1E6E7-6980-34C8-5B50-9BC3D2B8E2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8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ky with white clouds&#10;&#10;AI-generated content may be incorrect.">
            <a:extLst>
              <a:ext uri="{FF2B5EF4-FFF2-40B4-BE49-F238E27FC236}">
                <a16:creationId xmlns:a16="http://schemas.microsoft.com/office/drawing/2014/main" id="{D06997A8-9B2A-B93C-F597-79B38162AF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607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58B1CC-7E89-FC8B-DE61-81B292780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FFF8F3">
                <a:tint val="45000"/>
                <a:satMod val="400000"/>
              </a:srgbClr>
            </a:duotone>
          </a:blip>
          <a:srcRect t="7440" b="52893"/>
          <a:stretch/>
        </p:blipFill>
        <p:spPr>
          <a:xfrm>
            <a:off x="0" y="0"/>
            <a:ext cx="12191999" cy="6857999"/>
          </a:xfrm>
          <a:prstGeom prst="round2SameRect">
            <a:avLst>
              <a:gd name="adj1" fmla="val 0"/>
              <a:gd name="adj2" fmla="val 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7235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82976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urved object">
            <a:extLst>
              <a:ext uri="{FF2B5EF4-FFF2-40B4-BE49-F238E27FC236}">
                <a16:creationId xmlns:a16="http://schemas.microsoft.com/office/drawing/2014/main" id="{65978E02-7B42-4283-0732-A5ECD04C20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9B2C81-3582-FD54-9197-2A2E6EA52FF9}"/>
              </a:ext>
            </a:extLst>
          </p:cNvPr>
          <p:cNvSpPr/>
          <p:nvPr userDrawn="1"/>
        </p:nvSpPr>
        <p:spPr bwMode="auto">
          <a:xfrm>
            <a:off x="0" y="0"/>
            <a:ext cx="8586216" cy="6858000"/>
          </a:xfrm>
          <a:prstGeom prst="rect">
            <a:avLst/>
          </a:prstGeom>
          <a:gradFill>
            <a:gsLst>
              <a:gs pos="0">
                <a:srgbClr val="FFF8F3"/>
              </a:gs>
              <a:gs pos="100000">
                <a:srgbClr val="FFF8F3">
                  <a:alpha val="0"/>
                </a:srgbClr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60028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07777"/>
          </a:xfrm>
        </p:spPr>
        <p:txBody>
          <a:bodyPr tIns="0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8025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cenario six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96B9EA-FBFB-4858-13AE-0D3B6A1BFE98}"/>
              </a:ext>
            </a:extLst>
          </p:cNvPr>
          <p:cNvSpPr>
            <a:spLocks/>
          </p:cNvSpPr>
          <p:nvPr userDrawn="1"/>
        </p:nvSpPr>
        <p:spPr bwMode="auto">
          <a:xfrm>
            <a:off x="2179638" y="304726"/>
            <a:ext cx="4582191" cy="526298"/>
          </a:xfrm>
          <a:prstGeom prst="roundRect">
            <a:avLst/>
          </a:prstGeom>
          <a:solidFill>
            <a:srgbClr val="DDEEF8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54000" algn="ctr" rotWithShape="0">
              <a:schemeClr val="bg1">
                <a:lumMod val="75000"/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148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10B21A-B692-149F-D60C-5E53B60E00B6}"/>
              </a:ext>
            </a:extLst>
          </p:cNvPr>
          <p:cNvSpPr txBox="1">
            <a:spLocks/>
          </p:cNvSpPr>
          <p:nvPr userDrawn="1"/>
        </p:nvSpPr>
        <p:spPr>
          <a:xfrm>
            <a:off x="0" y="304726"/>
            <a:ext cx="2431247" cy="526298"/>
          </a:xfrm>
          <a:custGeom>
            <a:avLst/>
            <a:gdLst>
              <a:gd name="connsiteX0" fmla="*/ 1993 w 2431247"/>
              <a:gd name="connsiteY0" fmla="*/ 0 h 526298"/>
              <a:gd name="connsiteX1" fmla="*/ 2338766 w 2431247"/>
              <a:gd name="connsiteY1" fmla="*/ 0 h 526298"/>
              <a:gd name="connsiteX2" fmla="*/ 2431247 w 2431247"/>
              <a:gd name="connsiteY2" fmla="*/ 92481 h 526298"/>
              <a:gd name="connsiteX3" fmla="*/ 2431247 w 2431247"/>
              <a:gd name="connsiteY3" fmla="*/ 433817 h 526298"/>
              <a:gd name="connsiteX4" fmla="*/ 2338766 w 2431247"/>
              <a:gd name="connsiteY4" fmla="*/ 526298 h 526298"/>
              <a:gd name="connsiteX5" fmla="*/ 1993 w 2431247"/>
              <a:gd name="connsiteY5" fmla="*/ 526298 h 526298"/>
              <a:gd name="connsiteX6" fmla="*/ 0 w 2431247"/>
              <a:gd name="connsiteY6" fmla="*/ 525896 h 526298"/>
              <a:gd name="connsiteX7" fmla="*/ 0 w 2431247"/>
              <a:gd name="connsiteY7" fmla="*/ 402 h 526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1247" h="526298">
                <a:moveTo>
                  <a:pt x="1993" y="0"/>
                </a:moveTo>
                <a:lnTo>
                  <a:pt x="2338766" y="0"/>
                </a:lnTo>
                <a:cubicBezTo>
                  <a:pt x="2389842" y="0"/>
                  <a:pt x="2431247" y="41405"/>
                  <a:pt x="2431247" y="92481"/>
                </a:cubicBezTo>
                <a:lnTo>
                  <a:pt x="2431247" y="433817"/>
                </a:lnTo>
                <a:cubicBezTo>
                  <a:pt x="2431247" y="484893"/>
                  <a:pt x="2389842" y="526298"/>
                  <a:pt x="2338766" y="526298"/>
                </a:cubicBezTo>
                <a:lnTo>
                  <a:pt x="1993" y="526298"/>
                </a:lnTo>
                <a:lnTo>
                  <a:pt x="0" y="525896"/>
                </a:lnTo>
                <a:lnTo>
                  <a:pt x="0" y="402"/>
                </a:ln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vert="horz" wrap="square" lIns="310896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37" name="Step 5 Top">
            <a:extLst>
              <a:ext uri="{FF2B5EF4-FFF2-40B4-BE49-F238E27FC236}">
                <a16:creationId xmlns:a16="http://schemas.microsoft.com/office/drawing/2014/main" id="{6A995B05-0623-381A-BC20-075E020B55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11388" y="1026303"/>
            <a:ext cx="2431246" cy="1131079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050" b="0" i="0" u="none" strike="noStrike" kern="1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82157D41-F80D-AE68-F668-478CD741D4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04796" y="413987"/>
            <a:ext cx="2057403" cy="307777"/>
          </a:xfrm>
        </p:spPr>
        <p:txBody>
          <a:bodyPr anchor="ctr"/>
          <a:lstStyle>
            <a:lvl1pPr marL="0" indent="0"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5" name="Scenario Level">
            <a:extLst>
              <a:ext uri="{FF2B5EF4-FFF2-40B4-BE49-F238E27FC236}">
                <a16:creationId xmlns:a16="http://schemas.microsoft.com/office/drawing/2014/main" id="{1BB75DAB-4D8A-2933-BB52-0C94AA4816E3}"/>
              </a:ext>
            </a:extLst>
          </p:cNvPr>
          <p:cNvSpPr txBox="1"/>
          <p:nvPr userDrawn="1"/>
        </p:nvSpPr>
        <p:spPr>
          <a:xfrm>
            <a:off x="10895070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5" name="Level">
            <a:extLst>
              <a:ext uri="{FF2B5EF4-FFF2-40B4-BE49-F238E27FC236}">
                <a16:creationId xmlns:a16="http://schemas.microsoft.com/office/drawing/2014/main" id="{D78A2D53-01ED-9D74-9712-451C6F32148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430351" y="521099"/>
            <a:ext cx="1456966" cy="175614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0" i="0" spc="0" baseline="0">
                <a:solidFill>
                  <a:srgbClr val="0078D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Click to edit </a:t>
            </a:r>
          </a:p>
        </p:txBody>
      </p:sp>
      <p:sp>
        <p:nvSpPr>
          <p:cNvPr id="84" name="Available with">
            <a:extLst>
              <a:ext uri="{FF2B5EF4-FFF2-40B4-BE49-F238E27FC236}">
                <a16:creationId xmlns:a16="http://schemas.microsoft.com/office/drawing/2014/main" id="{8D8427AA-F015-D373-46E2-2EB1053D80CE}"/>
              </a:ext>
            </a:extLst>
          </p:cNvPr>
          <p:cNvSpPr txBox="1"/>
          <p:nvPr userDrawn="1"/>
        </p:nvSpPr>
        <p:spPr>
          <a:xfrm>
            <a:off x="9126798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Available with:</a:t>
            </a:r>
          </a:p>
        </p:txBody>
      </p:sp>
      <p:sp>
        <p:nvSpPr>
          <p:cNvPr id="103" name="Licenses">
            <a:extLst>
              <a:ext uri="{FF2B5EF4-FFF2-40B4-BE49-F238E27FC236}">
                <a16:creationId xmlns:a16="http://schemas.microsoft.com/office/drawing/2014/main" id="{6B562108-00FE-5F42-7550-13BB7DE58E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49557" y="521100"/>
            <a:ext cx="2969488" cy="169277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0" i="0" spc="0" baseline="0">
                <a:solidFill>
                  <a:srgbClr val="C03BC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216CED8-8F45-B380-FB1B-B9408979340F}"/>
              </a:ext>
            </a:extLst>
          </p:cNvPr>
          <p:cNvCxnSpPr/>
          <p:nvPr userDrawn="1"/>
        </p:nvCxnSpPr>
        <p:spPr>
          <a:xfrm>
            <a:off x="10357789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itle 12">
            <a:extLst>
              <a:ext uri="{FF2B5EF4-FFF2-40B4-BE49-F238E27FC236}">
                <a16:creationId xmlns:a16="http://schemas.microsoft.com/office/drawing/2014/main" id="{26B05CF8-4E6B-B8CC-5AA9-B8ED4463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556" y="429376"/>
            <a:ext cx="4144817" cy="276999"/>
          </a:xfrm>
        </p:spPr>
        <p:txBody>
          <a:bodyPr anchor="ctr"/>
          <a:lstStyle>
            <a:lvl1pPr>
              <a:defRPr lang="en-US" sz="18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</a:t>
            </a:r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9C693E26-EC61-AEAC-C1C4-733CBC83CC4A}"/>
              </a:ext>
            </a:extLst>
          </p:cNvPr>
          <p:cNvSpPr>
            <a:spLocks/>
          </p:cNvSpPr>
          <p:nvPr userDrawn="1"/>
        </p:nvSpPr>
        <p:spPr bwMode="auto">
          <a:xfrm rot="16200000" flipV="1">
            <a:off x="6107793" y="-1681313"/>
            <a:ext cx="2612241" cy="8679949"/>
          </a:xfrm>
          <a:custGeom>
            <a:avLst/>
            <a:gdLst>
              <a:gd name="connsiteX0" fmla="*/ 163683 w 2612241"/>
              <a:gd name="connsiteY0" fmla="*/ 0 h 8666696"/>
              <a:gd name="connsiteX1" fmla="*/ 2448558 w 2612241"/>
              <a:gd name="connsiteY1" fmla="*/ 0 h 8666696"/>
              <a:gd name="connsiteX2" fmla="*/ 2612241 w 2612241"/>
              <a:gd name="connsiteY2" fmla="*/ 163683 h 8666696"/>
              <a:gd name="connsiteX3" fmla="*/ 2612241 w 2612241"/>
              <a:gd name="connsiteY3" fmla="*/ 8666696 h 8666696"/>
              <a:gd name="connsiteX4" fmla="*/ 2612241 w 2612241"/>
              <a:gd name="connsiteY4" fmla="*/ 8666696 h 8666696"/>
              <a:gd name="connsiteX5" fmla="*/ 0 w 2612241"/>
              <a:gd name="connsiteY5" fmla="*/ 8666696 h 8666696"/>
              <a:gd name="connsiteX6" fmla="*/ 0 w 2612241"/>
              <a:gd name="connsiteY6" fmla="*/ 8666696 h 8666696"/>
              <a:gd name="connsiteX7" fmla="*/ 0 w 2612241"/>
              <a:gd name="connsiteY7" fmla="*/ 163683 h 8666696"/>
              <a:gd name="connsiteX8" fmla="*/ 163683 w 2612241"/>
              <a:gd name="connsiteY8" fmla="*/ 0 h 8666696"/>
              <a:gd name="connsiteX0" fmla="*/ 0 w 2612241"/>
              <a:gd name="connsiteY0" fmla="*/ 8666696 h 8758136"/>
              <a:gd name="connsiteX1" fmla="*/ 0 w 2612241"/>
              <a:gd name="connsiteY1" fmla="*/ 163683 h 8758136"/>
              <a:gd name="connsiteX2" fmla="*/ 163683 w 2612241"/>
              <a:gd name="connsiteY2" fmla="*/ 0 h 8758136"/>
              <a:gd name="connsiteX3" fmla="*/ 2448558 w 2612241"/>
              <a:gd name="connsiteY3" fmla="*/ 0 h 8758136"/>
              <a:gd name="connsiteX4" fmla="*/ 2612241 w 2612241"/>
              <a:gd name="connsiteY4" fmla="*/ 163683 h 8758136"/>
              <a:gd name="connsiteX5" fmla="*/ 2612241 w 2612241"/>
              <a:gd name="connsiteY5" fmla="*/ 8666696 h 8758136"/>
              <a:gd name="connsiteX6" fmla="*/ 2612241 w 2612241"/>
              <a:gd name="connsiteY6" fmla="*/ 8666696 h 8758136"/>
              <a:gd name="connsiteX7" fmla="*/ 0 w 2612241"/>
              <a:gd name="connsiteY7" fmla="*/ 8666696 h 8758136"/>
              <a:gd name="connsiteX8" fmla="*/ 91440 w 2612241"/>
              <a:gd name="connsiteY8" fmla="*/ 8758136 h 8758136"/>
              <a:gd name="connsiteX0" fmla="*/ 0 w 2612241"/>
              <a:gd name="connsiteY0" fmla="*/ 8666696 h 8666696"/>
              <a:gd name="connsiteX1" fmla="*/ 0 w 2612241"/>
              <a:gd name="connsiteY1" fmla="*/ 163683 h 8666696"/>
              <a:gd name="connsiteX2" fmla="*/ 163683 w 2612241"/>
              <a:gd name="connsiteY2" fmla="*/ 0 h 8666696"/>
              <a:gd name="connsiteX3" fmla="*/ 2448558 w 2612241"/>
              <a:gd name="connsiteY3" fmla="*/ 0 h 8666696"/>
              <a:gd name="connsiteX4" fmla="*/ 2612241 w 2612241"/>
              <a:gd name="connsiteY4" fmla="*/ 163683 h 8666696"/>
              <a:gd name="connsiteX5" fmla="*/ 2612241 w 2612241"/>
              <a:gd name="connsiteY5" fmla="*/ 8666696 h 8666696"/>
              <a:gd name="connsiteX6" fmla="*/ 2612241 w 2612241"/>
              <a:gd name="connsiteY6" fmla="*/ 8666696 h 8666696"/>
              <a:gd name="connsiteX7" fmla="*/ 0 w 2612241"/>
              <a:gd name="connsiteY7" fmla="*/ 8666696 h 8666696"/>
              <a:gd name="connsiteX0" fmla="*/ 0 w 2612241"/>
              <a:gd name="connsiteY0" fmla="*/ 8666696 h 8666696"/>
              <a:gd name="connsiteX1" fmla="*/ 0 w 2612241"/>
              <a:gd name="connsiteY1" fmla="*/ 163683 h 8666696"/>
              <a:gd name="connsiteX2" fmla="*/ 163683 w 2612241"/>
              <a:gd name="connsiteY2" fmla="*/ 0 h 8666696"/>
              <a:gd name="connsiteX3" fmla="*/ 2448558 w 2612241"/>
              <a:gd name="connsiteY3" fmla="*/ 0 h 8666696"/>
              <a:gd name="connsiteX4" fmla="*/ 2612241 w 2612241"/>
              <a:gd name="connsiteY4" fmla="*/ 163683 h 8666696"/>
              <a:gd name="connsiteX5" fmla="*/ 2612241 w 2612241"/>
              <a:gd name="connsiteY5" fmla="*/ 8666696 h 8666696"/>
              <a:gd name="connsiteX6" fmla="*/ 2612241 w 2612241"/>
              <a:gd name="connsiteY6" fmla="*/ 8666696 h 86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12241" h="8666696">
                <a:moveTo>
                  <a:pt x="0" y="8666696"/>
                </a:moveTo>
                <a:lnTo>
                  <a:pt x="0" y="163683"/>
                </a:lnTo>
                <a:cubicBezTo>
                  <a:pt x="0" y="73283"/>
                  <a:pt x="73283" y="0"/>
                  <a:pt x="163683" y="0"/>
                </a:cubicBezTo>
                <a:lnTo>
                  <a:pt x="2448558" y="0"/>
                </a:lnTo>
                <a:cubicBezTo>
                  <a:pt x="2538958" y="0"/>
                  <a:pt x="2612241" y="73283"/>
                  <a:pt x="2612241" y="163683"/>
                </a:cubicBezTo>
                <a:lnTo>
                  <a:pt x="2612241" y="8666696"/>
                </a:lnTo>
                <a:lnTo>
                  <a:pt x="2612241" y="8666696"/>
                </a:lnTo>
              </a:path>
            </a:pathLst>
          </a:custGeom>
          <a:ln w="15875" cap="flat">
            <a:gradFill flip="none" rotWithShape="1">
              <a:gsLst>
                <a:gs pos="0">
                  <a:srgbClr val="0078D4"/>
                </a:gs>
                <a:gs pos="100000">
                  <a:schemeClr val="accent3"/>
                </a:gs>
              </a:gsLst>
              <a:lin ang="16200000" scaled="1"/>
              <a:tileRect/>
            </a:gradFill>
            <a:headEnd type="none" w="lg" len="med"/>
            <a:tailEnd type="none" w="lg" len="med"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8467A5F-7BA2-6E3A-1EFE-31FAA4F5B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05591" y="1247214"/>
            <a:ext cx="210652" cy="210652"/>
            <a:chOff x="5214995" y="-1168400"/>
            <a:chExt cx="431800" cy="4318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514AE07-2437-886C-64BF-90FCDB18900D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47" name="Rectangle 89">
              <a:extLst>
                <a:ext uri="{FF2B5EF4-FFF2-40B4-BE49-F238E27FC236}">
                  <a16:creationId xmlns:a16="http://schemas.microsoft.com/office/drawing/2014/main" id="{F1304105-F302-1DA2-7A52-41BBBCC44EED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C32FE7B-F07D-C499-EA83-97D8A5B9D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89384" y="1247214"/>
            <a:ext cx="210652" cy="210652"/>
            <a:chOff x="5214995" y="-1168400"/>
            <a:chExt cx="431800" cy="4318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D7ABAD2-6246-A1F3-5E86-044B3D8C3074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59" name="Rectangle 89">
              <a:extLst>
                <a:ext uri="{FF2B5EF4-FFF2-40B4-BE49-F238E27FC236}">
                  <a16:creationId xmlns:a16="http://schemas.microsoft.com/office/drawing/2014/main" id="{0E6F2315-5317-6C1E-5DF8-4BE9FE7C7CA6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9B13FA4-84C5-6F46-C1BB-22875F9B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1648565" y="2541168"/>
            <a:ext cx="210652" cy="210652"/>
            <a:chOff x="5214995" y="-1168400"/>
            <a:chExt cx="431800" cy="4318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7D4A430-8084-5075-B04A-2E8CDD118B76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62" name="Rectangle 89">
              <a:extLst>
                <a:ext uri="{FF2B5EF4-FFF2-40B4-BE49-F238E27FC236}">
                  <a16:creationId xmlns:a16="http://schemas.microsoft.com/office/drawing/2014/main" id="{ABE5358E-92F9-96A5-6FDB-150E91A8AF78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FFD46EF-67A1-2B45-C906-05C4ACC2D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5805591" y="3859456"/>
            <a:ext cx="210652" cy="210652"/>
            <a:chOff x="5214995" y="-1168400"/>
            <a:chExt cx="431800" cy="4318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4ED043E-EA90-195B-771E-CE53479D2BC8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65" name="Rectangle 89">
              <a:extLst>
                <a:ext uri="{FF2B5EF4-FFF2-40B4-BE49-F238E27FC236}">
                  <a16:creationId xmlns:a16="http://schemas.microsoft.com/office/drawing/2014/main" id="{3853106D-E38A-371E-B378-89F7601572D3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B2872BD-57A1-5A98-BBEC-120407B23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689384" y="3859456"/>
            <a:ext cx="210652" cy="210652"/>
            <a:chOff x="5214995" y="-1168400"/>
            <a:chExt cx="431800" cy="4318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C271353-C79B-E3BF-32F5-48C1A526FF0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69" name="Rectangle 89">
              <a:extLst>
                <a:ext uri="{FF2B5EF4-FFF2-40B4-BE49-F238E27FC236}">
                  <a16:creationId xmlns:a16="http://schemas.microsoft.com/office/drawing/2014/main" id="{B93F1E4A-9BA7-C4D0-83D8-2451A1DEAD80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977582E-F97B-70B5-CB03-F46869F849C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3182890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81" name="Step 1 Title">
            <a:extLst>
              <a:ext uri="{FF2B5EF4-FFF2-40B4-BE49-F238E27FC236}">
                <a16:creationId xmlns:a16="http://schemas.microsoft.com/office/drawing/2014/main" id="{7E33DF77-DD28-CC24-9FC2-0AD434BCF4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82890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Step 1 Top">
            <a:extLst>
              <a:ext uri="{FF2B5EF4-FFF2-40B4-BE49-F238E27FC236}">
                <a16:creationId xmlns:a16="http://schemas.microsoft.com/office/drawing/2014/main" id="{4B00355E-1235-20E9-A051-604C9CFEC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82890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Step 1 Title">
            <a:extLst>
              <a:ext uri="{FF2B5EF4-FFF2-40B4-BE49-F238E27FC236}">
                <a16:creationId xmlns:a16="http://schemas.microsoft.com/office/drawing/2014/main" id="{2F0B0E91-BF30-3362-2F5C-B3C5D2B134A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066682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2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Step 1 Top">
            <a:extLst>
              <a:ext uri="{FF2B5EF4-FFF2-40B4-BE49-F238E27FC236}">
                <a16:creationId xmlns:a16="http://schemas.microsoft.com/office/drawing/2014/main" id="{4F227FB4-9BBF-2C43-E0ED-95EC51590A0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066682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33075CE-083E-DACE-75B9-DDCB2E437557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8950475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93" name="Step 1 Title">
            <a:extLst>
              <a:ext uri="{FF2B5EF4-FFF2-40B4-BE49-F238E27FC236}">
                <a16:creationId xmlns:a16="http://schemas.microsoft.com/office/drawing/2014/main" id="{78B57A65-16AE-5996-C81D-89A1171052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950475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3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Step 1 Top">
            <a:extLst>
              <a:ext uri="{FF2B5EF4-FFF2-40B4-BE49-F238E27FC236}">
                <a16:creationId xmlns:a16="http://schemas.microsoft.com/office/drawing/2014/main" id="{6B743263-A0E0-B08F-8640-1A6F2A47401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950475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E828537-77ED-661B-164D-7972C8F2B3CF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6066682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02" name="Text Placeholder 11">
            <a:extLst>
              <a:ext uri="{FF2B5EF4-FFF2-40B4-BE49-F238E27FC236}">
                <a16:creationId xmlns:a16="http://schemas.microsoft.com/office/drawing/2014/main" id="{B7B6A3B2-F891-96DB-EDD6-15440AF2E8C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182890" y="5334522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04" name="Step 1 Title">
            <a:extLst>
              <a:ext uri="{FF2B5EF4-FFF2-40B4-BE49-F238E27FC236}">
                <a16:creationId xmlns:a16="http://schemas.microsoft.com/office/drawing/2014/main" id="{0F93BF10-EBCF-85EF-D1B2-A7563451D7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182890" y="3725103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6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5" name="Step 1 Top">
            <a:extLst>
              <a:ext uri="{FF2B5EF4-FFF2-40B4-BE49-F238E27FC236}">
                <a16:creationId xmlns:a16="http://schemas.microsoft.com/office/drawing/2014/main" id="{C1C2FA4E-D061-ECCE-C8BB-24C647D6010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2890" y="4050957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9" name="Step 1 Title">
            <a:extLst>
              <a:ext uri="{FF2B5EF4-FFF2-40B4-BE49-F238E27FC236}">
                <a16:creationId xmlns:a16="http://schemas.microsoft.com/office/drawing/2014/main" id="{9CB910C7-53F5-CD35-F7B3-ED8F5DD4F6A1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066682" y="3725103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5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" name="Step 1 Top">
            <a:extLst>
              <a:ext uri="{FF2B5EF4-FFF2-40B4-BE49-F238E27FC236}">
                <a16:creationId xmlns:a16="http://schemas.microsoft.com/office/drawing/2014/main" id="{E81FD2D6-1B95-AE76-667E-A7ADD3CD3A5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066682" y="4050957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9D255C6-A463-0E1B-EFD1-0675518123ED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8950475" y="5334522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22" name="Step 1 Title">
            <a:extLst>
              <a:ext uri="{FF2B5EF4-FFF2-40B4-BE49-F238E27FC236}">
                <a16:creationId xmlns:a16="http://schemas.microsoft.com/office/drawing/2014/main" id="{A1FCE115-20B6-1C4D-4833-053AE41AEBD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950475" y="3725103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4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3" name="Step 1 Top">
            <a:extLst>
              <a:ext uri="{FF2B5EF4-FFF2-40B4-BE49-F238E27FC236}">
                <a16:creationId xmlns:a16="http://schemas.microsoft.com/office/drawing/2014/main" id="{3D5F63B4-9275-D6B7-3A0E-699C0C868EA5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8950475" y="4050957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9AEFB6C2-AB19-3A46-843C-CF95D15344CB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6066682" y="5334522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7" name="Footnote">
            <a:extLst>
              <a:ext uri="{FF2B5EF4-FFF2-40B4-BE49-F238E27FC236}">
                <a16:creationId xmlns:a16="http://schemas.microsoft.com/office/drawing/2014/main" id="{AC05EA29-0447-0506-FB1B-E11117B0DF2E}"/>
              </a:ext>
            </a:extLst>
          </p:cNvPr>
          <p:cNvSpPr txBox="1">
            <a:spLocks/>
          </p:cNvSpPr>
          <p:nvPr userDrawn="1"/>
        </p:nvSpPr>
        <p:spPr>
          <a:xfrm>
            <a:off x="320040" y="6309360"/>
            <a:ext cx="959741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7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1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or the Microsoft 365 Copilot Chat mobile app and set toggle to “Web”.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2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the Microsoft 365 Copilot Chat mobile app, or the M365 Copilot Chat app in Teams, and set toggle to “Work”.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3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AI Agents allow Copilot to access your organization-specific apps. In the past this would have required an API call to get data from a system of record.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content in this example scenario is for demonstration purposes only. You should evaluate how Copilot aligns with your organization’s business processes, regulatory requirements, and responsible AI principles.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1FD8182-9192-3293-3C25-613D50894B80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320721" y="4709762"/>
            <a:ext cx="1131651" cy="219456"/>
          </a:xfrm>
          <a:prstGeom prst="roundRect">
            <a:avLst>
              <a:gd name="adj" fmla="val 50000"/>
            </a:avLst>
          </a:prstGeom>
          <a:solidFill>
            <a:srgbClr val="C03BC4"/>
          </a:solidFill>
          <a:ln w="12700">
            <a:solidFill>
              <a:srgbClr val="C03BC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D81CAF3-1B44-C8D0-3BB0-F3DD087633F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320721" y="3467940"/>
            <a:ext cx="1131650" cy="219456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525780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0">
          <p15:clr>
            <a:srgbClr val="A4A3A4"/>
          </p15:clr>
        </p15:guide>
        <p15:guide id="8" pos="1368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68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enario five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4A1448-F8D7-EA0F-E466-136E038AA3F1}"/>
              </a:ext>
            </a:extLst>
          </p:cNvPr>
          <p:cNvCxnSpPr>
            <a:cxnSpLocks/>
          </p:cNvCxnSpPr>
          <p:nvPr userDrawn="1"/>
        </p:nvCxnSpPr>
        <p:spPr>
          <a:xfrm>
            <a:off x="3182889" y="1352539"/>
            <a:ext cx="8339848" cy="0"/>
          </a:xfrm>
          <a:prstGeom prst="line">
            <a:avLst/>
          </a:prstGeom>
          <a:ln w="15875" cap="flat">
            <a:gradFill flip="none" rotWithShape="1">
              <a:gsLst>
                <a:gs pos="0">
                  <a:srgbClr val="0078D4"/>
                </a:gs>
                <a:gs pos="100000">
                  <a:schemeClr val="accent3"/>
                </a:gs>
              </a:gsLst>
              <a:lin ang="16200000" scaled="1"/>
              <a:tileRect/>
            </a:gradFill>
            <a:headEnd type="none" w="lg" len="med"/>
            <a:tailEnd type="none" w="lg" len="med"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6C3234-D3F7-EB91-19FC-3FF3921A6EF7}"/>
              </a:ext>
            </a:extLst>
          </p:cNvPr>
          <p:cNvSpPr>
            <a:spLocks/>
          </p:cNvSpPr>
          <p:nvPr userDrawn="1"/>
        </p:nvSpPr>
        <p:spPr bwMode="auto">
          <a:xfrm>
            <a:off x="2179638" y="304726"/>
            <a:ext cx="4582191" cy="526298"/>
          </a:xfrm>
          <a:prstGeom prst="roundRect">
            <a:avLst/>
          </a:prstGeom>
          <a:solidFill>
            <a:srgbClr val="DDEEF8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54000" algn="ctr" rotWithShape="0">
              <a:schemeClr val="bg1">
                <a:lumMod val="75000"/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148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489450-2B99-F45D-B0AD-1BD8CA42038B}"/>
              </a:ext>
            </a:extLst>
          </p:cNvPr>
          <p:cNvSpPr txBox="1">
            <a:spLocks/>
          </p:cNvSpPr>
          <p:nvPr userDrawn="1"/>
        </p:nvSpPr>
        <p:spPr>
          <a:xfrm>
            <a:off x="0" y="304726"/>
            <a:ext cx="2431247" cy="526298"/>
          </a:xfrm>
          <a:custGeom>
            <a:avLst/>
            <a:gdLst>
              <a:gd name="connsiteX0" fmla="*/ 1993 w 2431247"/>
              <a:gd name="connsiteY0" fmla="*/ 0 h 526298"/>
              <a:gd name="connsiteX1" fmla="*/ 2338766 w 2431247"/>
              <a:gd name="connsiteY1" fmla="*/ 0 h 526298"/>
              <a:gd name="connsiteX2" fmla="*/ 2431247 w 2431247"/>
              <a:gd name="connsiteY2" fmla="*/ 92481 h 526298"/>
              <a:gd name="connsiteX3" fmla="*/ 2431247 w 2431247"/>
              <a:gd name="connsiteY3" fmla="*/ 433817 h 526298"/>
              <a:gd name="connsiteX4" fmla="*/ 2338766 w 2431247"/>
              <a:gd name="connsiteY4" fmla="*/ 526298 h 526298"/>
              <a:gd name="connsiteX5" fmla="*/ 1993 w 2431247"/>
              <a:gd name="connsiteY5" fmla="*/ 526298 h 526298"/>
              <a:gd name="connsiteX6" fmla="*/ 0 w 2431247"/>
              <a:gd name="connsiteY6" fmla="*/ 525896 h 526298"/>
              <a:gd name="connsiteX7" fmla="*/ 0 w 2431247"/>
              <a:gd name="connsiteY7" fmla="*/ 402 h 526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1247" h="526298">
                <a:moveTo>
                  <a:pt x="1993" y="0"/>
                </a:moveTo>
                <a:lnTo>
                  <a:pt x="2338766" y="0"/>
                </a:lnTo>
                <a:cubicBezTo>
                  <a:pt x="2389842" y="0"/>
                  <a:pt x="2431247" y="41405"/>
                  <a:pt x="2431247" y="92481"/>
                </a:cubicBezTo>
                <a:lnTo>
                  <a:pt x="2431247" y="433817"/>
                </a:lnTo>
                <a:cubicBezTo>
                  <a:pt x="2431247" y="484893"/>
                  <a:pt x="2389842" y="526298"/>
                  <a:pt x="2338766" y="526298"/>
                </a:cubicBezTo>
                <a:lnTo>
                  <a:pt x="1993" y="526298"/>
                </a:lnTo>
                <a:lnTo>
                  <a:pt x="0" y="525896"/>
                </a:lnTo>
                <a:lnTo>
                  <a:pt x="0" y="402"/>
                </a:ln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vert="horz" wrap="square" lIns="310896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71" name="Scenario Level">
            <a:extLst>
              <a:ext uri="{FF2B5EF4-FFF2-40B4-BE49-F238E27FC236}">
                <a16:creationId xmlns:a16="http://schemas.microsoft.com/office/drawing/2014/main" id="{5C914349-B5B3-D703-EE31-78482DD3DAA9}"/>
              </a:ext>
            </a:extLst>
          </p:cNvPr>
          <p:cNvSpPr txBox="1"/>
          <p:nvPr userDrawn="1"/>
        </p:nvSpPr>
        <p:spPr>
          <a:xfrm>
            <a:off x="10895070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73" name="Available with">
            <a:extLst>
              <a:ext uri="{FF2B5EF4-FFF2-40B4-BE49-F238E27FC236}">
                <a16:creationId xmlns:a16="http://schemas.microsoft.com/office/drawing/2014/main" id="{1E59605F-F04E-58C0-102B-28C6AFF01B7D}"/>
              </a:ext>
            </a:extLst>
          </p:cNvPr>
          <p:cNvSpPr txBox="1"/>
          <p:nvPr userDrawn="1"/>
        </p:nvSpPr>
        <p:spPr>
          <a:xfrm>
            <a:off x="9126798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Available with: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84F79FD-8FB8-5727-A3FB-9193B8AF441D}"/>
              </a:ext>
            </a:extLst>
          </p:cNvPr>
          <p:cNvCxnSpPr/>
          <p:nvPr userDrawn="1"/>
        </p:nvCxnSpPr>
        <p:spPr>
          <a:xfrm>
            <a:off x="10357789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CD8F809-3EF5-43AD-9927-8D87766BB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05591" y="1247214"/>
            <a:ext cx="210652" cy="210652"/>
            <a:chOff x="5214995" y="-1168400"/>
            <a:chExt cx="431800" cy="4318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D95EE76-3BB3-5D96-1162-650D8265E79B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81" name="Rectangle 89">
              <a:extLst>
                <a:ext uri="{FF2B5EF4-FFF2-40B4-BE49-F238E27FC236}">
                  <a16:creationId xmlns:a16="http://schemas.microsoft.com/office/drawing/2014/main" id="{C479534D-98FF-6F65-ECCB-79C6294552EA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684A0D0-9EC4-FC0C-B023-76950C80D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89384" y="1247214"/>
            <a:ext cx="210652" cy="210652"/>
            <a:chOff x="5214995" y="-1168400"/>
            <a:chExt cx="431800" cy="431800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82D2312-1888-7E4C-63E7-F0B9A0902E6D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85" name="Rectangle 89">
              <a:extLst>
                <a:ext uri="{FF2B5EF4-FFF2-40B4-BE49-F238E27FC236}">
                  <a16:creationId xmlns:a16="http://schemas.microsoft.com/office/drawing/2014/main" id="{E1424AAE-0B41-949F-3E6D-9A5D7323D7DB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37120404-23B9-B744-0816-1D0C351C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556" y="429376"/>
            <a:ext cx="4144817" cy="276999"/>
          </a:xfrm>
        </p:spPr>
        <p:txBody>
          <a:bodyPr/>
          <a:lstStyle>
            <a:lvl1pPr>
              <a:defRPr lang="en-IN" sz="1800" kern="1200" spc="-50" baseline="0" dirty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70">
            <a:extLst>
              <a:ext uri="{FF2B5EF4-FFF2-40B4-BE49-F238E27FC236}">
                <a16:creationId xmlns:a16="http://schemas.microsoft.com/office/drawing/2014/main" id="{BECC6E1E-CB20-24F2-9CE6-B77C08524D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04796" y="413987"/>
            <a:ext cx="1941119" cy="307777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spc="-50" baseline="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4" name="Licenses">
            <a:extLst>
              <a:ext uri="{FF2B5EF4-FFF2-40B4-BE49-F238E27FC236}">
                <a16:creationId xmlns:a16="http://schemas.microsoft.com/office/drawing/2014/main" id="{E442F0DF-3967-354D-A17D-A2229F6B3036}"/>
              </a:ext>
            </a:extLst>
          </p:cNvPr>
          <p:cNvSpPr>
            <a:spLocks noGrp="1"/>
          </p:cNvSpPr>
          <p:nvPr userDrawn="1">
            <p:ph type="body" sz="quarter" idx="44"/>
          </p:nvPr>
        </p:nvSpPr>
        <p:spPr>
          <a:xfrm>
            <a:off x="7149557" y="521100"/>
            <a:ext cx="2969488" cy="169277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0" baseline="0">
                <a:solidFill>
                  <a:srgbClr val="C03BC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Level">
            <a:extLst>
              <a:ext uri="{FF2B5EF4-FFF2-40B4-BE49-F238E27FC236}">
                <a16:creationId xmlns:a16="http://schemas.microsoft.com/office/drawing/2014/main" id="{0CD96223-5C6F-D226-0888-B8E8522B7793}"/>
              </a:ext>
            </a:extLst>
          </p:cNvPr>
          <p:cNvSpPr>
            <a:spLocks noGrp="1"/>
          </p:cNvSpPr>
          <p:nvPr userDrawn="1">
            <p:ph type="body" sz="quarter" idx="43"/>
          </p:nvPr>
        </p:nvSpPr>
        <p:spPr>
          <a:xfrm>
            <a:off x="10430351" y="521099"/>
            <a:ext cx="1456966" cy="175614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0" baseline="0">
                <a:solidFill>
                  <a:srgbClr val="0078D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Click to edit</a:t>
            </a:r>
          </a:p>
        </p:txBody>
      </p:sp>
      <p:sp>
        <p:nvSpPr>
          <p:cNvPr id="14" name="Step 5 Top">
            <a:extLst>
              <a:ext uri="{FF2B5EF4-FFF2-40B4-BE49-F238E27FC236}">
                <a16:creationId xmlns:a16="http://schemas.microsoft.com/office/drawing/2014/main" id="{5F6FC536-93D3-A645-6321-E19971F6F7A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11388" y="1026303"/>
            <a:ext cx="2431246" cy="1131079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050" b="0" i="0" u="none" strike="noStrike" kern="1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53" name="Text Placeholder 8">
            <a:extLst>
              <a:ext uri="{FF2B5EF4-FFF2-40B4-BE49-F238E27FC236}">
                <a16:creationId xmlns:a16="http://schemas.microsoft.com/office/drawing/2014/main" id="{20290FDF-B386-A402-3F54-8F38D89E385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320721" y="3467940"/>
            <a:ext cx="1131650" cy="219456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52" name="Text Placeholder 8">
            <a:extLst>
              <a:ext uri="{FF2B5EF4-FFF2-40B4-BE49-F238E27FC236}">
                <a16:creationId xmlns:a16="http://schemas.microsoft.com/office/drawing/2014/main" id="{CC259F50-FF88-8A52-A7A2-B916E54D000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320721" y="4709762"/>
            <a:ext cx="1131651" cy="219456"/>
          </a:xfrm>
          <a:prstGeom prst="roundRect">
            <a:avLst>
              <a:gd name="adj" fmla="val 50000"/>
            </a:avLst>
          </a:prstGeom>
          <a:solidFill>
            <a:srgbClr val="C03BC4"/>
          </a:solidFill>
          <a:ln w="12700">
            <a:solidFill>
              <a:srgbClr val="C03BC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04" name="Step 1 Title">
            <a:extLst>
              <a:ext uri="{FF2B5EF4-FFF2-40B4-BE49-F238E27FC236}">
                <a16:creationId xmlns:a16="http://schemas.microsoft.com/office/drawing/2014/main" id="{AAECE90F-E2FD-C50D-2380-5A623E6E68CC}"/>
              </a:ext>
            </a:extLst>
          </p:cNvPr>
          <p:cNvSpPr>
            <a:spLocks noGrp="1"/>
          </p:cNvSpPr>
          <p:nvPr userDrawn="1">
            <p:ph type="body" sz="quarter" idx="47"/>
          </p:nvPr>
        </p:nvSpPr>
        <p:spPr>
          <a:xfrm>
            <a:off x="3182890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Step 1 Top">
            <a:extLst>
              <a:ext uri="{FF2B5EF4-FFF2-40B4-BE49-F238E27FC236}">
                <a16:creationId xmlns:a16="http://schemas.microsoft.com/office/drawing/2014/main" id="{A10522D6-287E-CAF9-7877-202543AC084D}"/>
              </a:ext>
            </a:extLst>
          </p:cNvPr>
          <p:cNvSpPr>
            <a:spLocks noGrp="1"/>
          </p:cNvSpPr>
          <p:nvPr userDrawn="1">
            <p:ph type="body" sz="quarter" idx="48"/>
          </p:nvPr>
        </p:nvSpPr>
        <p:spPr>
          <a:xfrm>
            <a:off x="3182890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" name="Text Placeholder 11">
            <a:extLst>
              <a:ext uri="{FF2B5EF4-FFF2-40B4-BE49-F238E27FC236}">
                <a16:creationId xmlns:a16="http://schemas.microsoft.com/office/drawing/2014/main" id="{899216D1-14EF-7DC6-A6A8-3649535AF5E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182889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14" name="Step 1 Title">
            <a:extLst>
              <a:ext uri="{FF2B5EF4-FFF2-40B4-BE49-F238E27FC236}">
                <a16:creationId xmlns:a16="http://schemas.microsoft.com/office/drawing/2014/main" id="{AFF8CAD5-73C9-15E8-C15B-5669E59EDF22}"/>
              </a:ext>
            </a:extLst>
          </p:cNvPr>
          <p:cNvSpPr>
            <a:spLocks noGrp="1"/>
          </p:cNvSpPr>
          <p:nvPr userDrawn="1">
            <p:ph type="body" sz="quarter" idx="49"/>
          </p:nvPr>
        </p:nvSpPr>
        <p:spPr>
          <a:xfrm>
            <a:off x="6066682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2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9" name="Step 1 Top">
            <a:extLst>
              <a:ext uri="{FF2B5EF4-FFF2-40B4-BE49-F238E27FC236}">
                <a16:creationId xmlns:a16="http://schemas.microsoft.com/office/drawing/2014/main" id="{CBBB447E-62C7-3EE8-58FD-A63BA4091DC2}"/>
              </a:ext>
            </a:extLst>
          </p:cNvPr>
          <p:cNvSpPr>
            <a:spLocks noGrp="1"/>
          </p:cNvSpPr>
          <p:nvPr userDrawn="1">
            <p:ph type="body" sz="quarter" idx="50"/>
          </p:nvPr>
        </p:nvSpPr>
        <p:spPr>
          <a:xfrm>
            <a:off x="6066682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6E7EFF7-AB37-8C10-0D72-C219A327442B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6066682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27" name="Step 1 Title">
            <a:extLst>
              <a:ext uri="{FF2B5EF4-FFF2-40B4-BE49-F238E27FC236}">
                <a16:creationId xmlns:a16="http://schemas.microsoft.com/office/drawing/2014/main" id="{DC3628C0-ED08-9682-4738-5B06F7C21C56}"/>
              </a:ext>
            </a:extLst>
          </p:cNvPr>
          <p:cNvSpPr>
            <a:spLocks noGrp="1"/>
          </p:cNvSpPr>
          <p:nvPr userDrawn="1">
            <p:ph type="body" sz="quarter" idx="52"/>
          </p:nvPr>
        </p:nvSpPr>
        <p:spPr>
          <a:xfrm>
            <a:off x="8950475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3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Step 1 Top">
            <a:extLst>
              <a:ext uri="{FF2B5EF4-FFF2-40B4-BE49-F238E27FC236}">
                <a16:creationId xmlns:a16="http://schemas.microsoft.com/office/drawing/2014/main" id="{E91EBCF2-F3C6-3640-61AD-0C42AE3B6C92}"/>
              </a:ext>
            </a:extLst>
          </p:cNvPr>
          <p:cNvSpPr>
            <a:spLocks noGrp="1"/>
          </p:cNvSpPr>
          <p:nvPr userDrawn="1">
            <p:ph type="body" sz="quarter" idx="53"/>
          </p:nvPr>
        </p:nvSpPr>
        <p:spPr>
          <a:xfrm>
            <a:off x="8950475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820393F-A448-2E4C-089D-807F9DC2A07E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8950475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45" name="Footnote">
            <a:extLst>
              <a:ext uri="{FF2B5EF4-FFF2-40B4-BE49-F238E27FC236}">
                <a16:creationId xmlns:a16="http://schemas.microsoft.com/office/drawing/2014/main" id="{EFC765AC-7584-A8D3-1059-43D998733533}"/>
              </a:ext>
            </a:extLst>
          </p:cNvPr>
          <p:cNvSpPr txBox="1">
            <a:spLocks/>
          </p:cNvSpPr>
          <p:nvPr userDrawn="1"/>
        </p:nvSpPr>
        <p:spPr>
          <a:xfrm>
            <a:off x="320040" y="6309360"/>
            <a:ext cx="959741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7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1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or the Microsoft 365 Copilot Chat mobile app and set toggle to “Web”.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2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the Microsoft 365 Copilot Chat mobile app, or the M365 Copilot Chat app in Teams, and set toggle to “Work”.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3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AI Agents allow Copilot to access your organization-specific apps. In the past this would have required an API call to get data from a system of record.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content in this example scenario is for demonstration purposes only. You should evaluate how Copilot aligns with your organization’s business processes, regulatory requirements, and responsible AI principles.</a:t>
            </a:r>
          </a:p>
        </p:txBody>
      </p:sp>
    </p:spTree>
    <p:extLst>
      <p:ext uri="{BB962C8B-B14F-4D97-AF65-F5344CB8AC3E}">
        <p14:creationId xmlns:p14="http://schemas.microsoft.com/office/powerpoint/2010/main" val="33699104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8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60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in the life six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387766"/>
            <a:ext cx="5672544" cy="526298"/>
          </a:xfrm>
        </p:spPr>
        <p:txBody>
          <a:bodyPr tIns="0"/>
          <a:lstStyle>
            <a:lvl1pPr>
              <a:lnSpc>
                <a:spcPct val="95000"/>
              </a:lnSpc>
              <a:defRPr sz="18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style; can be up to two lines long; 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75" name="Scenario Level">
            <a:extLst>
              <a:ext uri="{FF2B5EF4-FFF2-40B4-BE49-F238E27FC236}">
                <a16:creationId xmlns:a16="http://schemas.microsoft.com/office/drawing/2014/main" id="{1BB75DAB-4D8A-2933-BB52-0C94AA4816E3}"/>
              </a:ext>
            </a:extLst>
          </p:cNvPr>
          <p:cNvSpPr txBox="1"/>
          <p:nvPr userDrawn="1"/>
        </p:nvSpPr>
        <p:spPr>
          <a:xfrm>
            <a:off x="10955436" y="351933"/>
            <a:ext cx="9317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3" name="Level">
            <a:extLst>
              <a:ext uri="{FF2B5EF4-FFF2-40B4-BE49-F238E27FC236}">
                <a16:creationId xmlns:a16="http://schemas.microsoft.com/office/drawing/2014/main" id="{78D71A05-3479-3DEB-1227-2FC98983A8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430234" y="521099"/>
            <a:ext cx="1456966" cy="175614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rgbClr val="0078D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Buy</a:t>
            </a:r>
          </a:p>
        </p:txBody>
      </p:sp>
      <p:sp>
        <p:nvSpPr>
          <p:cNvPr id="84" name="Available With">
            <a:extLst>
              <a:ext uri="{FF2B5EF4-FFF2-40B4-BE49-F238E27FC236}">
                <a16:creationId xmlns:a16="http://schemas.microsoft.com/office/drawing/2014/main" id="{8D8427AA-F015-D373-46E2-2EB1053D80CE}"/>
              </a:ext>
            </a:extLst>
          </p:cNvPr>
          <p:cNvSpPr txBox="1"/>
          <p:nvPr userDrawn="1"/>
        </p:nvSpPr>
        <p:spPr>
          <a:xfrm>
            <a:off x="9187165" y="351933"/>
            <a:ext cx="9317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Available with: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216CED8-8F45-B380-FB1B-B9408979340F}"/>
              </a:ext>
            </a:extLst>
          </p:cNvPr>
          <p:cNvCxnSpPr/>
          <p:nvPr userDrawn="1"/>
        </p:nvCxnSpPr>
        <p:spPr>
          <a:xfrm>
            <a:off x="10357672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License">
            <a:extLst>
              <a:ext uri="{FF2B5EF4-FFF2-40B4-BE49-F238E27FC236}">
                <a16:creationId xmlns:a16="http://schemas.microsoft.com/office/drawing/2014/main" id="{6B562108-00FE-5F42-7550-13BB7DE58E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9107" y="521099"/>
            <a:ext cx="3599821" cy="169277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rgbClr val="C03BC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Microsoft 365 Copilot</a:t>
            </a:r>
          </a:p>
        </p:txBody>
      </p:sp>
      <p:sp>
        <p:nvSpPr>
          <p:cNvPr id="119" name="Freeform: Shape 2">
            <a:extLst>
              <a:ext uri="{FF2B5EF4-FFF2-40B4-BE49-F238E27FC236}">
                <a16:creationId xmlns:a16="http://schemas.microsoft.com/office/drawing/2014/main" id="{DFCC0CE5-9BBF-33A2-43D3-99555654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857513"/>
            <a:ext cx="10010265" cy="2453282"/>
          </a:xfrm>
          <a:custGeom>
            <a:avLst/>
            <a:gdLst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  <a:gd name="connsiteX0" fmla="*/ 25400 w 9096375"/>
              <a:gd name="connsiteY0" fmla="*/ 0 h 2491048"/>
              <a:gd name="connsiteX1" fmla="*/ 8875992 w 9096375"/>
              <a:gd name="connsiteY1" fmla="*/ 0 h 2491048"/>
              <a:gd name="connsiteX2" fmla="*/ 9096375 w 9096375"/>
              <a:gd name="connsiteY2" fmla="*/ 220383 h 2491048"/>
              <a:gd name="connsiteX3" fmla="*/ 9096375 w 9096375"/>
              <a:gd name="connsiteY3" fmla="*/ 2270665 h 2491048"/>
              <a:gd name="connsiteX4" fmla="*/ 8875992 w 9096375"/>
              <a:gd name="connsiteY4" fmla="*/ 2491048 h 2491048"/>
              <a:gd name="connsiteX5" fmla="*/ 25400 w 9096375"/>
              <a:gd name="connsiteY5" fmla="*/ 2491048 h 2491048"/>
              <a:gd name="connsiteX6" fmla="*/ 0 w 9096375"/>
              <a:gd name="connsiteY6" fmla="*/ 1182948 h 2491048"/>
              <a:gd name="connsiteX7" fmla="*/ 25400 w 9096375"/>
              <a:gd name="connsiteY7" fmla="*/ 0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7" fmla="*/ 91440 w 9096375"/>
              <a:gd name="connsiteY7" fmla="*/ 1274388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70975" h="2491048">
                <a:moveTo>
                  <a:pt x="0" y="0"/>
                </a:moveTo>
                <a:lnTo>
                  <a:pt x="8850592" y="0"/>
                </a:lnTo>
                <a:cubicBezTo>
                  <a:pt x="8972306" y="0"/>
                  <a:pt x="9070975" y="98669"/>
                  <a:pt x="9070975" y="220383"/>
                </a:cubicBezTo>
                <a:lnTo>
                  <a:pt x="9070975" y="2270665"/>
                </a:lnTo>
                <a:cubicBezTo>
                  <a:pt x="9070975" y="2392379"/>
                  <a:pt x="8972306" y="2491048"/>
                  <a:pt x="8850592" y="2491048"/>
                </a:cubicBezTo>
                <a:lnTo>
                  <a:pt x="0" y="2491048"/>
                </a:lnTo>
              </a:path>
            </a:pathLst>
          </a:custGeom>
          <a:ln w="15875" cap="flat">
            <a:gradFill flip="none" rotWithShape="1">
              <a:gsLst>
                <a:gs pos="0">
                  <a:srgbClr val="0078D4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3E1CBA9-BB11-EF2E-649E-27B49E82FE86}"/>
              </a:ext>
            </a:extLst>
          </p:cNvPr>
          <p:cNvGrpSpPr/>
          <p:nvPr userDrawn="1"/>
        </p:nvGrpSpPr>
        <p:grpSpPr>
          <a:xfrm>
            <a:off x="3476832" y="1793093"/>
            <a:ext cx="166152" cy="166152"/>
            <a:chOff x="5214995" y="-1168400"/>
            <a:chExt cx="431800" cy="431800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E54C8AC7-0DF2-A7B4-59BC-354BDE9A823D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9" name="Rectangle 89">
              <a:extLst>
                <a:ext uri="{FF2B5EF4-FFF2-40B4-BE49-F238E27FC236}">
                  <a16:creationId xmlns:a16="http://schemas.microsoft.com/office/drawing/2014/main" id="{F0376496-3125-ED18-7608-C142A0C35F33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D3E10AB-B82F-F7E8-A33D-8AF61C784420}"/>
              </a:ext>
            </a:extLst>
          </p:cNvPr>
          <p:cNvGrpSpPr/>
          <p:nvPr userDrawn="1"/>
        </p:nvGrpSpPr>
        <p:grpSpPr>
          <a:xfrm>
            <a:off x="6669529" y="1793093"/>
            <a:ext cx="166152" cy="166152"/>
            <a:chOff x="5214995" y="-1168400"/>
            <a:chExt cx="431800" cy="431800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CC526CF7-4F8D-6DB9-E3E9-2381E7AFAF4A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2" name="Rectangle 89">
              <a:extLst>
                <a:ext uri="{FF2B5EF4-FFF2-40B4-BE49-F238E27FC236}">
                  <a16:creationId xmlns:a16="http://schemas.microsoft.com/office/drawing/2014/main" id="{63E3BD4D-8045-49DC-2041-46643AE5ED02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16F1C59-4D7D-3BDD-0560-654E11A9B15E}"/>
              </a:ext>
            </a:extLst>
          </p:cNvPr>
          <p:cNvGrpSpPr/>
          <p:nvPr userDrawn="1"/>
        </p:nvGrpSpPr>
        <p:grpSpPr>
          <a:xfrm flipH="1">
            <a:off x="3476832" y="4248344"/>
            <a:ext cx="166152" cy="166152"/>
            <a:chOff x="5214995" y="-1168400"/>
            <a:chExt cx="431800" cy="431800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0C410FC-F149-F1FA-B620-BF7F0EDE7D6C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5" name="Rectangle 89">
              <a:extLst>
                <a:ext uri="{FF2B5EF4-FFF2-40B4-BE49-F238E27FC236}">
                  <a16:creationId xmlns:a16="http://schemas.microsoft.com/office/drawing/2014/main" id="{5B5C9B65-59ED-2529-1E53-C9ABE9CB79FD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8DAF83D-E0BD-BE8E-ECEC-5E5EDE3E6C74}"/>
              </a:ext>
            </a:extLst>
          </p:cNvPr>
          <p:cNvGrpSpPr/>
          <p:nvPr userDrawn="1"/>
        </p:nvGrpSpPr>
        <p:grpSpPr>
          <a:xfrm flipH="1">
            <a:off x="6669529" y="4248344"/>
            <a:ext cx="166152" cy="166152"/>
            <a:chOff x="5214995" y="-1168400"/>
            <a:chExt cx="431800" cy="431800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CC39567-C008-3C38-03DA-28EE0BE7483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8" name="Rectangle 89">
              <a:extLst>
                <a:ext uri="{FF2B5EF4-FFF2-40B4-BE49-F238E27FC236}">
                  <a16:creationId xmlns:a16="http://schemas.microsoft.com/office/drawing/2014/main" id="{99B2574B-7594-72E2-E826-4D4DA471A11A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60DF7C5-E7F6-A90D-706C-6592ECDDB338}"/>
              </a:ext>
            </a:extLst>
          </p:cNvPr>
          <p:cNvGrpSpPr/>
          <p:nvPr userDrawn="1"/>
        </p:nvGrpSpPr>
        <p:grpSpPr>
          <a:xfrm rot="5400000">
            <a:off x="9928103" y="2233511"/>
            <a:ext cx="166152" cy="166152"/>
            <a:chOff x="5214995" y="-1168400"/>
            <a:chExt cx="431800" cy="431800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1A9EA57-349E-6453-094C-DB252913E583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79" name="Rectangle 89">
              <a:extLst>
                <a:ext uri="{FF2B5EF4-FFF2-40B4-BE49-F238E27FC236}">
                  <a16:creationId xmlns:a16="http://schemas.microsoft.com/office/drawing/2014/main" id="{217C0C60-8F15-8390-C6A7-0DB9E99CA653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572509-4831-8A48-B663-AE17D9FD8ED5}"/>
              </a:ext>
            </a:extLst>
          </p:cNvPr>
          <p:cNvGrpSpPr/>
          <p:nvPr userDrawn="1"/>
        </p:nvGrpSpPr>
        <p:grpSpPr>
          <a:xfrm rot="5400000">
            <a:off x="9928103" y="3954518"/>
            <a:ext cx="166152" cy="166152"/>
            <a:chOff x="5214995" y="-1168400"/>
            <a:chExt cx="431800" cy="431800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068A591D-A59C-D3D7-2C67-293B3727D0A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82" name="Rectangle 89">
              <a:extLst>
                <a:ext uri="{FF2B5EF4-FFF2-40B4-BE49-F238E27FC236}">
                  <a16:creationId xmlns:a16="http://schemas.microsoft.com/office/drawing/2014/main" id="{8B0AF6B1-C3AC-C476-AE16-287C61A1D75A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95" name="Step 1 TItle">
            <a:extLst>
              <a:ext uri="{FF2B5EF4-FFF2-40B4-BE49-F238E27FC236}">
                <a16:creationId xmlns:a16="http://schemas.microsoft.com/office/drawing/2014/main" id="{545F2FD2-44C5-DA9F-8E2B-13D6C03793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06" name="Step 1 Top">
            <a:extLst>
              <a:ext uri="{FF2B5EF4-FFF2-40B4-BE49-F238E27FC236}">
                <a16:creationId xmlns:a16="http://schemas.microsoft.com/office/drawing/2014/main" id="{433B73A7-DB5C-AF5A-B12A-70E655D0C5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4200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Step 1 Bottom">
            <a:extLst>
              <a:ext uri="{FF2B5EF4-FFF2-40B4-BE49-F238E27FC236}">
                <a16:creationId xmlns:a16="http://schemas.microsoft.com/office/drawing/2014/main" id="{C966B391-3BF4-A5FB-4F8A-8B4B546896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199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3" name="Step 2 Title">
            <a:extLst>
              <a:ext uri="{FF2B5EF4-FFF2-40B4-BE49-F238E27FC236}">
                <a16:creationId xmlns:a16="http://schemas.microsoft.com/office/drawing/2014/main" id="{DF1E6E41-3DB3-84EB-984F-CCB9167D56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76898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84" name="Step 2 Top">
            <a:extLst>
              <a:ext uri="{FF2B5EF4-FFF2-40B4-BE49-F238E27FC236}">
                <a16:creationId xmlns:a16="http://schemas.microsoft.com/office/drawing/2014/main" id="{6E6ACE10-8248-C360-0E35-7598E8EC828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898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Step 2 Bottom">
            <a:extLst>
              <a:ext uri="{FF2B5EF4-FFF2-40B4-BE49-F238E27FC236}">
                <a16:creationId xmlns:a16="http://schemas.microsoft.com/office/drawing/2014/main" id="{55D154DF-71A5-D9D3-0756-AA7208899C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76897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6" name="Step 3 Title">
            <a:extLst>
              <a:ext uri="{FF2B5EF4-FFF2-40B4-BE49-F238E27FC236}">
                <a16:creationId xmlns:a16="http://schemas.microsoft.com/office/drawing/2014/main" id="{3BF3353A-2534-A54C-BD30-4DA6ABBA06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9595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87" name="Step 3 Top">
            <a:extLst>
              <a:ext uri="{FF2B5EF4-FFF2-40B4-BE49-F238E27FC236}">
                <a16:creationId xmlns:a16="http://schemas.microsoft.com/office/drawing/2014/main" id="{F8FA69C0-B798-B0EF-B064-997FF774E8E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969595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9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88" name="Step 3 Bottom">
            <a:extLst>
              <a:ext uri="{FF2B5EF4-FFF2-40B4-BE49-F238E27FC236}">
                <a16:creationId xmlns:a16="http://schemas.microsoft.com/office/drawing/2014/main" id="{FFA3E6BA-ECB6-F78C-CF22-7B05706020E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969595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95" name="Step 4 Title">
            <a:extLst>
              <a:ext uri="{FF2B5EF4-FFF2-40B4-BE49-F238E27FC236}">
                <a16:creationId xmlns:a16="http://schemas.microsoft.com/office/drawing/2014/main" id="{4411A19D-5600-3582-7891-BEECA6B3C92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9595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6" name="Step 4 Top">
            <a:extLst>
              <a:ext uri="{FF2B5EF4-FFF2-40B4-BE49-F238E27FC236}">
                <a16:creationId xmlns:a16="http://schemas.microsoft.com/office/drawing/2014/main" id="{E6756EC6-5C62-CCBD-6970-540F4E463C6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969595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7" name="Step 4 Bottom">
            <a:extLst>
              <a:ext uri="{FF2B5EF4-FFF2-40B4-BE49-F238E27FC236}">
                <a16:creationId xmlns:a16="http://schemas.microsoft.com/office/drawing/2014/main" id="{56520A8E-9E5D-0840-1CB1-35762F47BF5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69595" y="5696772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92" name="Step 5 Title">
            <a:extLst>
              <a:ext uri="{FF2B5EF4-FFF2-40B4-BE49-F238E27FC236}">
                <a16:creationId xmlns:a16="http://schemas.microsoft.com/office/drawing/2014/main" id="{D8F51403-DA8F-C60A-932D-8B8817FDA7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76898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3" name="Step 5 Top">
            <a:extLst>
              <a:ext uri="{FF2B5EF4-FFF2-40B4-BE49-F238E27FC236}">
                <a16:creationId xmlns:a16="http://schemas.microsoft.com/office/drawing/2014/main" id="{1D287AE8-D07F-849B-E6F1-1AC629E8FB3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776898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4" name="Step 5 Bottom">
            <a:extLst>
              <a:ext uri="{FF2B5EF4-FFF2-40B4-BE49-F238E27FC236}">
                <a16:creationId xmlns:a16="http://schemas.microsoft.com/office/drawing/2014/main" id="{D79AB424-C959-FD9F-0942-4B657234F22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776897" y="5681038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9" name="Step 6 Title">
            <a:extLst>
              <a:ext uri="{FF2B5EF4-FFF2-40B4-BE49-F238E27FC236}">
                <a16:creationId xmlns:a16="http://schemas.microsoft.com/office/drawing/2014/main" id="{E07EBCA7-C1BD-E0AD-6403-14224CB1B5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200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0" name="Step 6 Top">
            <a:extLst>
              <a:ext uri="{FF2B5EF4-FFF2-40B4-BE49-F238E27FC236}">
                <a16:creationId xmlns:a16="http://schemas.microsoft.com/office/drawing/2014/main" id="{880DDDC9-1973-AB6B-84B0-8402F7E57DD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4200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Step 6 Bottom">
            <a:extLst>
              <a:ext uri="{FF2B5EF4-FFF2-40B4-BE49-F238E27FC236}">
                <a16:creationId xmlns:a16="http://schemas.microsoft.com/office/drawing/2014/main" id="{779BA1D8-105C-B66F-63AF-84DC7F62245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84200" y="5681038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5" name="Footnote">
            <a:extLst>
              <a:ext uri="{FF2B5EF4-FFF2-40B4-BE49-F238E27FC236}">
                <a16:creationId xmlns:a16="http://schemas.microsoft.com/office/drawing/2014/main" id="{31EB8337-5CD4-C7D9-AFCA-89AFAC81CFF8}"/>
              </a:ext>
            </a:extLst>
          </p:cNvPr>
          <p:cNvSpPr txBox="1">
            <a:spLocks/>
          </p:cNvSpPr>
          <p:nvPr userDrawn="1"/>
        </p:nvSpPr>
        <p:spPr>
          <a:xfrm>
            <a:off x="653131" y="6406129"/>
            <a:ext cx="959741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7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aseline="30000" noProof="0" dirty="0"/>
              <a:t>1</a:t>
            </a:r>
            <a:r>
              <a:rPr lang="en-US" noProof="0" dirty="0"/>
              <a:t>Access M365 Copilot Chat at </a:t>
            </a:r>
            <a:r>
              <a:rPr lang="en-US" noProof="0" dirty="0">
                <a:hlinkClick r:id="rId2"/>
              </a:rPr>
              <a:t>m365copilot.com </a:t>
            </a:r>
            <a:r>
              <a:rPr lang="en-US" noProof="0" dirty="0"/>
              <a:t>or the Microsoft 365 Copilot Chat mobile app and set toggle to “Web”.</a:t>
            </a:r>
          </a:p>
          <a:p>
            <a:r>
              <a:rPr lang="en-US" baseline="30000" noProof="0" dirty="0"/>
              <a:t>2</a:t>
            </a:r>
            <a:r>
              <a:rPr lang="en-US" noProof="0" dirty="0"/>
              <a:t>Access M365 Copilot Chat at </a:t>
            </a:r>
            <a:r>
              <a:rPr lang="en-US" noProof="0" dirty="0">
                <a:hlinkClick r:id="rId2"/>
              </a:rPr>
              <a:t>m365copilot.com</a:t>
            </a:r>
            <a:r>
              <a:rPr lang="en-US" noProof="0" dirty="0"/>
              <a:t>, the Microsoft 365 Copilot Chat mobile app, or the M365 Copilot Chat app in Teams, and set toggle to “Work”.</a:t>
            </a:r>
          </a:p>
          <a:p>
            <a:r>
              <a:rPr lang="en-US" baseline="30000" noProof="0" dirty="0"/>
              <a:t>3</a:t>
            </a:r>
            <a:r>
              <a:rPr lang="en-US" noProof="0" dirty="0"/>
              <a:t>AI Agents allow Copilot to access your organization-specific apps. In the past this would have required an API call to get data from a system of record.</a:t>
            </a:r>
          </a:p>
          <a:p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content in this example scenario is for demonstration purposes only. You should evaluate how Copilot aligns with your organization’s business processes, regulatory requirements, and responsible AI principles.</a:t>
            </a:r>
          </a:p>
        </p:txBody>
      </p:sp>
    </p:spTree>
    <p:extLst>
      <p:ext uri="{BB962C8B-B14F-4D97-AF65-F5344CB8AC3E}">
        <p14:creationId xmlns:p14="http://schemas.microsoft.com/office/powerpoint/2010/main" val="36911182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92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0" r:id="rId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upport.microsoft.com/en-us/topic/overview-of-microsoft-365-chat-preview-5b00a52d-7296-48ee-b938-b95b7209f737" TargetMode="Externa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Placeholder 228">
            <a:extLst>
              <a:ext uri="{FF2B5EF4-FFF2-40B4-BE49-F238E27FC236}">
                <a16:creationId xmlns:a16="http://schemas.microsoft.com/office/drawing/2014/main" id="{8C1C57AC-C528-EC65-F286-CE0EA708A3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11388" y="1026303"/>
            <a:ext cx="2431246" cy="1131079"/>
          </a:xfrm>
        </p:spPr>
        <p:txBody>
          <a:bodyPr/>
          <a:lstStyle/>
          <a:p>
            <a:r>
              <a:rPr lang="en-US" noProof="0" dirty="0"/>
              <a:t>Copilot Chat can assist IT professionals throughout their day with coding, research, and documentation.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32E7187-E8AE-F4A1-ADF2-9B03421C8E8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04796" y="321654"/>
            <a:ext cx="2057403" cy="492443"/>
          </a:xfrm>
        </p:spPr>
        <p:txBody>
          <a:bodyPr/>
          <a:lstStyle/>
          <a:p>
            <a:r>
              <a:rPr lang="en-US" sz="1600" dirty="0"/>
              <a:t>Information Technology </a:t>
            </a:r>
          </a:p>
        </p:txBody>
      </p:sp>
      <p:sp>
        <p:nvSpPr>
          <p:cNvPr id="228" name="Text Placeholder 227">
            <a:extLst>
              <a:ext uri="{FF2B5EF4-FFF2-40B4-BE49-F238E27FC236}">
                <a16:creationId xmlns:a16="http://schemas.microsoft.com/office/drawing/2014/main" id="{F2170A9C-16AC-FF00-D22F-C4A6979171B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430351" y="521099"/>
            <a:ext cx="1456966" cy="175614"/>
          </a:xfrm>
        </p:spPr>
        <p:txBody>
          <a:bodyPr/>
          <a:lstStyle/>
          <a:p>
            <a:r>
              <a:rPr lang="en-US" noProof="0" dirty="0"/>
              <a:t>Start</a:t>
            </a:r>
          </a:p>
        </p:txBody>
      </p:sp>
      <p:sp>
        <p:nvSpPr>
          <p:cNvPr id="226" name="Text Placeholder 225">
            <a:extLst>
              <a:ext uri="{FF2B5EF4-FFF2-40B4-BE49-F238E27FC236}">
                <a16:creationId xmlns:a16="http://schemas.microsoft.com/office/drawing/2014/main" id="{EA3CA507-A20D-5635-C79E-0C183B667F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49557" y="521100"/>
            <a:ext cx="2969488" cy="169277"/>
          </a:xfrm>
        </p:spPr>
        <p:txBody>
          <a:bodyPr/>
          <a:lstStyle/>
          <a:p>
            <a:r>
              <a:rPr lang="en-US" noProof="0" dirty="0"/>
              <a:t>Microsoft 365 Copilot Chat</a:t>
            </a:r>
          </a:p>
        </p:txBody>
      </p:sp>
      <p:sp>
        <p:nvSpPr>
          <p:cNvPr id="41" name="Title 40">
            <a:extLst>
              <a:ext uri="{FF2B5EF4-FFF2-40B4-BE49-F238E27FC236}">
                <a16:creationId xmlns:a16="http://schemas.microsoft.com/office/drawing/2014/main" id="{F3348262-3759-B130-C494-DD4FF88F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556" y="429376"/>
            <a:ext cx="4144817" cy="276999"/>
          </a:xfrm>
        </p:spPr>
        <p:txBody>
          <a:bodyPr/>
          <a:lstStyle/>
          <a:p>
            <a:r>
              <a:rPr lang="en-US" dirty="0"/>
              <a:t>General IT prompts</a:t>
            </a:r>
          </a:p>
        </p:txBody>
      </p:sp>
      <p:sp>
        <p:nvSpPr>
          <p:cNvPr id="243" name="Text Placeholder 242">
            <a:extLst>
              <a:ext uri="{FF2B5EF4-FFF2-40B4-BE49-F238E27FC236}">
                <a16:creationId xmlns:a16="http://schemas.microsoft.com/office/drawing/2014/main" id="{A2D3DAF7-4C2E-176A-AB2E-85FE5142718B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3182890" y="2725494"/>
            <a:ext cx="2572262" cy="712876"/>
          </a:xfrm>
        </p:spPr>
        <p:txBody>
          <a:bodyPr/>
          <a:lstStyle/>
          <a:p>
            <a:r>
              <a:rPr lang="en-US" noProof="0" dirty="0"/>
              <a:t>Sample Prompt: I want to learn more about how to implement [tool, service]. </a:t>
            </a:r>
            <a:r>
              <a:rPr lang="en-US" noProof="0" dirty="0">
                <a:latin typeface="+mj-lt"/>
              </a:rPr>
              <a:t>Provide a high-level outline</a:t>
            </a:r>
            <a:r>
              <a:rPr lang="en-US" noProof="0" dirty="0"/>
              <a:t> with guidance on how to implement, best practice set ups, how to get leader buy-in, etc.</a:t>
            </a:r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C431D17D-8AFC-E56F-21AE-371999D31A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82890" y="1112478"/>
            <a:ext cx="2572262" cy="153888"/>
          </a:xfrm>
        </p:spPr>
        <p:txBody>
          <a:bodyPr/>
          <a:lstStyle/>
          <a:p>
            <a:r>
              <a:rPr lang="en-US" noProof="0" dirty="0"/>
              <a:t>Research</a:t>
            </a:r>
          </a:p>
        </p:txBody>
      </p:sp>
      <p:sp>
        <p:nvSpPr>
          <p:cNvPr id="227" name="Text Placeholder 226">
            <a:extLst>
              <a:ext uri="{FF2B5EF4-FFF2-40B4-BE49-F238E27FC236}">
                <a16:creationId xmlns:a16="http://schemas.microsoft.com/office/drawing/2014/main" id="{6D54D64E-4A03-3488-4641-6EA935080D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82938" y="1438275"/>
            <a:ext cx="2571750" cy="627063"/>
          </a:xfrm>
        </p:spPr>
        <p:txBody>
          <a:bodyPr/>
          <a:lstStyle/>
          <a:p>
            <a:r>
              <a:rPr lang="en-US" noProof="0" dirty="0"/>
              <a:t>Use Copilot to stay up-to-date with the latest technologies and best practices through continued learning. </a:t>
            </a:r>
          </a:p>
        </p:txBody>
      </p:sp>
      <p:sp>
        <p:nvSpPr>
          <p:cNvPr id="232" name="Text Placeholder 231">
            <a:extLst>
              <a:ext uri="{FF2B5EF4-FFF2-40B4-BE49-F238E27FC236}">
                <a16:creationId xmlns:a16="http://schemas.microsoft.com/office/drawing/2014/main" id="{DDC1E6BB-68F5-2498-ED8E-408A7C4C7EB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066682" y="1112478"/>
            <a:ext cx="2572262" cy="153888"/>
          </a:xfrm>
        </p:spPr>
        <p:txBody>
          <a:bodyPr/>
          <a:lstStyle/>
          <a:p>
            <a:r>
              <a:rPr lang="en-US" noProof="0" dirty="0"/>
              <a:t>Create IT documentation </a:t>
            </a:r>
          </a:p>
        </p:txBody>
      </p:sp>
      <p:sp>
        <p:nvSpPr>
          <p:cNvPr id="233" name="Text Placeholder 232">
            <a:extLst>
              <a:ext uri="{FF2B5EF4-FFF2-40B4-BE49-F238E27FC236}">
                <a16:creationId xmlns:a16="http://schemas.microsoft.com/office/drawing/2014/main" id="{36AC3900-A800-0110-6B47-58485ABBE2A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067425" y="1438275"/>
            <a:ext cx="2571750" cy="627063"/>
          </a:xfrm>
        </p:spPr>
        <p:txBody>
          <a:bodyPr/>
          <a:lstStyle/>
          <a:p>
            <a:r>
              <a:rPr lang="en-US" noProof="0" dirty="0"/>
              <a:t>Use Copilot to create and update documentation </a:t>
            </a:r>
            <a:br>
              <a:rPr lang="en-US" noProof="0" dirty="0"/>
            </a:br>
            <a:r>
              <a:rPr lang="en-US" noProof="0" dirty="0"/>
              <a:t>for IT processes, configurations, and troubleshooting guides.</a:t>
            </a:r>
          </a:p>
        </p:txBody>
      </p:sp>
      <p:sp>
        <p:nvSpPr>
          <p:cNvPr id="237" name="Text Placeholder 236">
            <a:extLst>
              <a:ext uri="{FF2B5EF4-FFF2-40B4-BE49-F238E27FC236}">
                <a16:creationId xmlns:a16="http://schemas.microsoft.com/office/drawing/2014/main" id="{43B56FDD-1D5B-DBB2-AE80-C56423D47868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8950475" y="2725494"/>
            <a:ext cx="2572262" cy="712876"/>
          </a:xfrm>
        </p:spPr>
        <p:txBody>
          <a:bodyPr/>
          <a:lstStyle/>
          <a:p>
            <a:r>
              <a:rPr lang="en-US" noProof="0" dirty="0"/>
              <a:t>Sample Prompt: I am training new users on our [software, system, tool]. </a:t>
            </a:r>
            <a:r>
              <a:rPr lang="en-US" noProof="0" dirty="0">
                <a:latin typeface="+mj-lt"/>
              </a:rPr>
              <a:t>Create an outline for a 30-minute training</a:t>
            </a:r>
            <a:r>
              <a:rPr lang="en-US" noProof="0" dirty="0"/>
              <a:t> including key concepts, demos, and best practices.</a:t>
            </a:r>
          </a:p>
        </p:txBody>
      </p:sp>
      <p:sp>
        <p:nvSpPr>
          <p:cNvPr id="235" name="Text Placeholder 234">
            <a:extLst>
              <a:ext uri="{FF2B5EF4-FFF2-40B4-BE49-F238E27FC236}">
                <a16:creationId xmlns:a16="http://schemas.microsoft.com/office/drawing/2014/main" id="{0329E901-1512-CAC4-9D61-C54DC9D86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950475" y="1112478"/>
            <a:ext cx="2572262" cy="153888"/>
          </a:xfrm>
        </p:spPr>
        <p:txBody>
          <a:bodyPr/>
          <a:lstStyle/>
          <a:p>
            <a:r>
              <a:rPr lang="en-US" noProof="0" dirty="0"/>
              <a:t>User training</a:t>
            </a:r>
          </a:p>
        </p:txBody>
      </p:sp>
      <p:sp>
        <p:nvSpPr>
          <p:cNvPr id="236" name="Text Placeholder 235">
            <a:extLst>
              <a:ext uri="{FF2B5EF4-FFF2-40B4-BE49-F238E27FC236}">
                <a16:creationId xmlns:a16="http://schemas.microsoft.com/office/drawing/2014/main" id="{543256C1-D255-6463-F5E8-4BF8B2F11D9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950325" y="1438275"/>
            <a:ext cx="2571750" cy="627063"/>
          </a:xfrm>
        </p:spPr>
        <p:txBody>
          <a:bodyPr/>
          <a:lstStyle/>
          <a:p>
            <a:r>
              <a:rPr lang="en-US" noProof="0" dirty="0"/>
              <a:t>When you choose to implement a new service </a:t>
            </a:r>
            <a:br>
              <a:rPr lang="en-US" noProof="0" dirty="0"/>
            </a:br>
            <a:r>
              <a:rPr lang="en-US" noProof="0" dirty="0"/>
              <a:t>or product to your organization, use Copilot to streamline the user training process. </a:t>
            </a:r>
          </a:p>
        </p:txBody>
      </p:sp>
      <p:sp>
        <p:nvSpPr>
          <p:cNvPr id="246" name="Text Placeholder 245">
            <a:extLst>
              <a:ext uri="{FF2B5EF4-FFF2-40B4-BE49-F238E27FC236}">
                <a16:creationId xmlns:a16="http://schemas.microsoft.com/office/drawing/2014/main" id="{A8C171B7-C1A7-983C-1AA6-447BF0DCFC28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6066682" y="2725494"/>
            <a:ext cx="2572262" cy="712876"/>
          </a:xfrm>
        </p:spPr>
        <p:txBody>
          <a:bodyPr/>
          <a:lstStyle/>
          <a:p>
            <a:r>
              <a:rPr lang="en-US" noProof="0" dirty="0"/>
              <a:t>Sample Prompt: </a:t>
            </a:r>
            <a:r>
              <a:rPr lang="en-US" noProof="0" dirty="0">
                <a:latin typeface="+mj-lt"/>
              </a:rPr>
              <a:t>Create a 2-page document detailing the architecture </a:t>
            </a:r>
            <a:r>
              <a:rPr lang="en-US" noProof="0" dirty="0"/>
              <a:t>of [system] in non-technical language. Be sure to incorporate key features, technologies, and a process diagram. </a:t>
            </a:r>
          </a:p>
        </p:txBody>
      </p:sp>
      <p:sp>
        <p:nvSpPr>
          <p:cNvPr id="238" name="Text Placeholder 237">
            <a:extLst>
              <a:ext uri="{FF2B5EF4-FFF2-40B4-BE49-F238E27FC236}">
                <a16:creationId xmlns:a16="http://schemas.microsoft.com/office/drawing/2014/main" id="{8C37358C-738E-CF6B-8234-0C3D829B3A2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182890" y="5334522"/>
            <a:ext cx="2572262" cy="712876"/>
          </a:xfrm>
        </p:spPr>
        <p:txBody>
          <a:bodyPr/>
          <a:lstStyle/>
          <a:p>
            <a:r>
              <a:rPr lang="en-US" noProof="0" dirty="0"/>
              <a:t>Sample Prompt: </a:t>
            </a:r>
            <a:r>
              <a:rPr lang="en-US" noProof="0" dirty="0">
                <a:latin typeface="+mj-lt"/>
              </a:rPr>
              <a:t>Rewrite this code </a:t>
            </a:r>
            <a:r>
              <a:rPr lang="en-US" noProof="0" dirty="0"/>
              <a:t>so that it will no longer have an error when the user picks an invalid product type. Also add comments and provide a summary of what it does: &lt;code&gt;</a:t>
            </a:r>
          </a:p>
        </p:txBody>
      </p:sp>
      <p:sp>
        <p:nvSpPr>
          <p:cNvPr id="239" name="Text Placeholder 238">
            <a:extLst>
              <a:ext uri="{FF2B5EF4-FFF2-40B4-BE49-F238E27FC236}">
                <a16:creationId xmlns:a16="http://schemas.microsoft.com/office/drawing/2014/main" id="{2CB38724-3B99-E006-79A8-8F993C60353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182890" y="3725103"/>
            <a:ext cx="2572262" cy="153888"/>
          </a:xfrm>
        </p:spPr>
        <p:txBody>
          <a:bodyPr/>
          <a:lstStyle/>
          <a:p>
            <a:r>
              <a:rPr lang="en-US" noProof="0" dirty="0"/>
              <a:t>Code review</a:t>
            </a:r>
          </a:p>
        </p:txBody>
      </p:sp>
      <p:sp>
        <p:nvSpPr>
          <p:cNvPr id="240" name="Text Placeholder 239">
            <a:extLst>
              <a:ext uri="{FF2B5EF4-FFF2-40B4-BE49-F238E27FC236}">
                <a16:creationId xmlns:a16="http://schemas.microsoft.com/office/drawing/2014/main" id="{EB603797-4E1D-9B5A-FE6E-B4EE580DA63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2890" y="4050957"/>
            <a:ext cx="2572262" cy="626701"/>
          </a:xfrm>
        </p:spPr>
        <p:txBody>
          <a:bodyPr/>
          <a:lstStyle/>
          <a:p>
            <a:r>
              <a:rPr lang="en-US" noProof="0" dirty="0"/>
              <a:t>Ask Copilot to help fix issues that arise from </a:t>
            </a:r>
            <a:br>
              <a:rPr lang="en-US" noProof="0" dirty="0"/>
            </a:br>
            <a:r>
              <a:rPr lang="en-US" noProof="0" dirty="0"/>
              <a:t>a code review.</a:t>
            </a:r>
          </a:p>
        </p:txBody>
      </p:sp>
      <p:sp>
        <p:nvSpPr>
          <p:cNvPr id="241" name="Text Placeholder 240">
            <a:extLst>
              <a:ext uri="{FF2B5EF4-FFF2-40B4-BE49-F238E27FC236}">
                <a16:creationId xmlns:a16="http://schemas.microsoft.com/office/drawing/2014/main" id="{C55BB71A-9806-DF45-A5A1-B7D20EF50C6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066682" y="3725103"/>
            <a:ext cx="2572262" cy="153888"/>
          </a:xfrm>
        </p:spPr>
        <p:txBody>
          <a:bodyPr/>
          <a:lstStyle/>
          <a:p>
            <a:r>
              <a:rPr lang="en-US" noProof="0" dirty="0"/>
              <a:t>Backup and recovery</a:t>
            </a:r>
          </a:p>
        </p:txBody>
      </p:sp>
      <p:sp>
        <p:nvSpPr>
          <p:cNvPr id="242" name="Text Placeholder 241">
            <a:extLst>
              <a:ext uri="{FF2B5EF4-FFF2-40B4-BE49-F238E27FC236}">
                <a16:creationId xmlns:a16="http://schemas.microsoft.com/office/drawing/2014/main" id="{5C2122D1-8992-0CFB-4658-DA56EE4D3D8F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066682" y="4050957"/>
            <a:ext cx="2572262" cy="626701"/>
          </a:xfrm>
        </p:spPr>
        <p:txBody>
          <a:bodyPr/>
          <a:lstStyle/>
          <a:p>
            <a:r>
              <a:rPr lang="en-US" noProof="0" dirty="0"/>
              <a:t>Copilot can help you create scripts to automate backup and recovery processes. </a:t>
            </a:r>
          </a:p>
        </p:txBody>
      </p:sp>
      <p:sp>
        <p:nvSpPr>
          <p:cNvPr id="231" name="Text Placeholder 230">
            <a:extLst>
              <a:ext uri="{FF2B5EF4-FFF2-40B4-BE49-F238E27FC236}">
                <a16:creationId xmlns:a16="http://schemas.microsoft.com/office/drawing/2014/main" id="{5FDF0E36-A49D-1681-B5FF-BDC9395746B4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8950475" y="5334522"/>
            <a:ext cx="2572262" cy="712876"/>
          </a:xfrm>
        </p:spPr>
        <p:txBody>
          <a:bodyPr/>
          <a:lstStyle/>
          <a:p>
            <a:r>
              <a:rPr lang="en-US" noProof="0" dirty="0"/>
              <a:t>Sample Prompt: </a:t>
            </a:r>
            <a:r>
              <a:rPr lang="en-US" noProof="0" dirty="0">
                <a:latin typeface="+mj-lt"/>
              </a:rPr>
              <a:t>Outline the key information </a:t>
            </a:r>
            <a:br>
              <a:rPr lang="en-US" noProof="0" dirty="0"/>
            </a:br>
            <a:r>
              <a:rPr lang="en-US" noProof="0" dirty="0"/>
              <a:t>needed for an IT asset inventory system and some suggestions for how to maintain these logs. </a:t>
            </a:r>
          </a:p>
        </p:txBody>
      </p:sp>
      <p:sp>
        <p:nvSpPr>
          <p:cNvPr id="244" name="Text Placeholder 243">
            <a:extLst>
              <a:ext uri="{FF2B5EF4-FFF2-40B4-BE49-F238E27FC236}">
                <a16:creationId xmlns:a16="http://schemas.microsoft.com/office/drawing/2014/main" id="{CD889DFE-7266-0A72-7926-2785B5F0072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950475" y="3725103"/>
            <a:ext cx="2572262" cy="153888"/>
          </a:xfrm>
        </p:spPr>
        <p:txBody>
          <a:bodyPr/>
          <a:lstStyle/>
          <a:p>
            <a:r>
              <a:rPr lang="en-US" noProof="0" dirty="0"/>
              <a:t>IT inventory management</a:t>
            </a:r>
          </a:p>
        </p:txBody>
      </p:sp>
      <p:sp>
        <p:nvSpPr>
          <p:cNvPr id="245" name="Text Placeholder 244">
            <a:extLst>
              <a:ext uri="{FF2B5EF4-FFF2-40B4-BE49-F238E27FC236}">
                <a16:creationId xmlns:a16="http://schemas.microsoft.com/office/drawing/2014/main" id="{3B80A24B-BD9A-81A7-0E8F-1A397333569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8950475" y="4050957"/>
            <a:ext cx="2572262" cy="626701"/>
          </a:xfrm>
        </p:spPr>
        <p:txBody>
          <a:bodyPr/>
          <a:lstStyle/>
          <a:p>
            <a:r>
              <a:rPr lang="en-US" noProof="0" dirty="0"/>
              <a:t>Use Copilot to help provide best practices on how manage IT inventory. </a:t>
            </a:r>
          </a:p>
          <a:p>
            <a:endParaRPr lang="en-US" noProof="0" dirty="0"/>
          </a:p>
        </p:txBody>
      </p:sp>
      <p:sp>
        <p:nvSpPr>
          <p:cNvPr id="234" name="Text Placeholder 233">
            <a:extLst>
              <a:ext uri="{FF2B5EF4-FFF2-40B4-BE49-F238E27FC236}">
                <a16:creationId xmlns:a16="http://schemas.microsoft.com/office/drawing/2014/main" id="{58AD380F-A014-33B7-5886-8D0346791AA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6066682" y="5334522"/>
            <a:ext cx="2572262" cy="712876"/>
          </a:xfrm>
        </p:spPr>
        <p:txBody>
          <a:bodyPr/>
          <a:lstStyle/>
          <a:p>
            <a:r>
              <a:rPr lang="en-US" noProof="0" dirty="0"/>
              <a:t>Sample Prompt: </a:t>
            </a:r>
            <a:r>
              <a:rPr lang="en-US" noProof="0" dirty="0">
                <a:latin typeface="+mj-lt"/>
              </a:rPr>
              <a:t>Provide an example of a PowerShell script </a:t>
            </a:r>
            <a:r>
              <a:rPr lang="en-US" noProof="0" dirty="0"/>
              <a:t>that takes daily snapshot backups of Azure Storage volumes, organizes logically, and removes snapshots older than 30 days for compliance.</a:t>
            </a:r>
          </a:p>
        </p:txBody>
      </p:sp>
      <p:sp>
        <p:nvSpPr>
          <p:cNvPr id="247" name="Text Placeholder 246">
            <a:extLst>
              <a:ext uri="{FF2B5EF4-FFF2-40B4-BE49-F238E27FC236}">
                <a16:creationId xmlns:a16="http://schemas.microsoft.com/office/drawing/2014/main" id="{38A6B79C-8CA4-5463-0685-9B65F0C4BA7A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320721" y="4709762"/>
            <a:ext cx="1131651" cy="219456"/>
          </a:xfrm>
        </p:spPr>
        <p:txBody>
          <a:bodyPr/>
          <a:lstStyle/>
          <a:p>
            <a:pPr lvl="0"/>
            <a:r>
              <a:rPr lang="en-US" noProof="0" dirty="0"/>
              <a:t>Value benefit</a:t>
            </a:r>
          </a:p>
        </p:txBody>
      </p:sp>
      <p:sp>
        <p:nvSpPr>
          <p:cNvPr id="248" name="Text Placeholder 247">
            <a:extLst>
              <a:ext uri="{FF2B5EF4-FFF2-40B4-BE49-F238E27FC236}">
                <a16:creationId xmlns:a16="http://schemas.microsoft.com/office/drawing/2014/main" id="{9AEE2155-9AA4-78CB-5077-A936E48DFB5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320721" y="3467940"/>
            <a:ext cx="1131650" cy="219456"/>
          </a:xfrm>
        </p:spPr>
        <p:txBody>
          <a:bodyPr/>
          <a:lstStyle/>
          <a:p>
            <a:r>
              <a:rPr lang="en-US" noProof="0" dirty="0"/>
              <a:t>KPIs impacted</a:t>
            </a:r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BE4FB5B-948C-B640-25C4-F40C1D33BE87}"/>
              </a:ext>
            </a:extLst>
          </p:cNvPr>
          <p:cNvGrpSpPr/>
          <p:nvPr/>
        </p:nvGrpSpPr>
        <p:grpSpPr>
          <a:xfrm>
            <a:off x="320719" y="3778836"/>
            <a:ext cx="1771605" cy="216000"/>
            <a:chOff x="320719" y="4224848"/>
            <a:chExt cx="1771605" cy="219456"/>
          </a:xfrm>
        </p:grpSpPr>
        <p:sp>
          <p:nvSpPr>
            <p:cNvPr id="250" name="Rectangle: Rounded Corners 6">
              <a:extLst>
                <a:ext uri="{FF2B5EF4-FFF2-40B4-BE49-F238E27FC236}">
                  <a16:creationId xmlns:a16="http://schemas.microsoft.com/office/drawing/2014/main" id="{69412E96-9968-0AF9-C62C-96F02FBB8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320719" y="4224848"/>
              <a:ext cx="177160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0078D4"/>
              </a:solidFill>
              <a:headEnd type="none" w="med" len="med"/>
              <a:tailEnd type="none" w="med" len="med"/>
            </a:ln>
            <a:effectLst>
              <a:outerShdw blurRad="63500" dist="63500" dir="2700000" rotWithShape="0">
                <a:srgbClr val="454142">
                  <a:alpha val="20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16000" tIns="36576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 panose="020B0702040204020203" pitchFamily="34" charset="0"/>
                </a:rPr>
                <a:t>IT management costs</a:t>
              </a:r>
            </a:p>
          </p:txBody>
        </p:sp>
        <p:pic>
          <p:nvPicPr>
            <p:cNvPr id="251" name="Graphic 250">
              <a:extLst>
                <a:ext uri="{FF2B5EF4-FFF2-40B4-BE49-F238E27FC236}">
                  <a16:creationId xmlns:a16="http://schemas.microsoft.com/office/drawing/2014/main" id="{676CEA81-9C9D-8E4C-6519-E6BD6300A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7506" y="4260849"/>
              <a:ext cx="144000" cy="144000"/>
            </a:xfrm>
            <a:prstGeom prst="rect">
              <a:avLst/>
            </a:prstGeom>
          </p:spPr>
        </p:pic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3A97DA23-9AE2-1A35-03C5-0DCAFA651FED}"/>
              </a:ext>
            </a:extLst>
          </p:cNvPr>
          <p:cNvGrpSpPr/>
          <p:nvPr/>
        </p:nvGrpSpPr>
        <p:grpSpPr>
          <a:xfrm>
            <a:off x="320721" y="4067988"/>
            <a:ext cx="1771605" cy="216000"/>
            <a:chOff x="320721" y="4517211"/>
            <a:chExt cx="1771605" cy="216000"/>
          </a:xfrm>
        </p:grpSpPr>
        <p:sp>
          <p:nvSpPr>
            <p:cNvPr id="253" name="Rectangle: Rounded Corners 6">
              <a:extLst>
                <a:ext uri="{FF2B5EF4-FFF2-40B4-BE49-F238E27FC236}">
                  <a16:creationId xmlns:a16="http://schemas.microsoft.com/office/drawing/2014/main" id="{8666F633-C25B-88D8-0971-4EB6D4BD74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21" y="4517211"/>
              <a:ext cx="1771605" cy="216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0078D4"/>
              </a:solidFill>
              <a:headEnd type="none" w="med" len="med"/>
              <a:tailEnd type="none" w="med" len="med"/>
            </a:ln>
            <a:effectLst>
              <a:outerShdw blurRad="63500" dist="63500" dir="2700000" rotWithShape="0">
                <a:srgbClr val="454142">
                  <a:alpha val="20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16000" tIns="36576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/>
                </a:rPr>
                <a:t>Application downtime</a:t>
              </a:r>
            </a:p>
          </p:txBody>
        </p:sp>
        <p:pic>
          <p:nvPicPr>
            <p:cNvPr id="254" name="Graphic 253">
              <a:extLst>
                <a:ext uri="{FF2B5EF4-FFF2-40B4-BE49-F238E27FC236}">
                  <a16:creationId xmlns:a16="http://schemas.microsoft.com/office/drawing/2014/main" id="{6E1236DC-7FCC-E391-884A-6F87C1D73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7507" y="4552645"/>
              <a:ext cx="144000" cy="141732"/>
            </a:xfrm>
            <a:prstGeom prst="rect">
              <a:avLst/>
            </a:prstGeom>
          </p:spPr>
        </p:pic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A53C96A7-9437-D56C-015C-8DC4E7E942B5}"/>
              </a:ext>
            </a:extLst>
          </p:cNvPr>
          <p:cNvGrpSpPr/>
          <p:nvPr/>
        </p:nvGrpSpPr>
        <p:grpSpPr>
          <a:xfrm>
            <a:off x="320719" y="5020658"/>
            <a:ext cx="1771607" cy="504622"/>
            <a:chOff x="320719" y="5293823"/>
            <a:chExt cx="1771607" cy="504622"/>
          </a:xfrm>
        </p:grpSpPr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A780607F-58A7-B47F-5667-03A75475546D}"/>
                </a:ext>
              </a:extLst>
            </p:cNvPr>
            <p:cNvGrpSpPr/>
            <p:nvPr/>
          </p:nvGrpSpPr>
          <p:grpSpPr>
            <a:xfrm>
              <a:off x="320719" y="5293823"/>
              <a:ext cx="1771605" cy="216000"/>
              <a:chOff x="320719" y="5270676"/>
              <a:chExt cx="1771605" cy="216000"/>
            </a:xfrm>
          </p:grpSpPr>
          <p:sp>
            <p:nvSpPr>
              <p:cNvPr id="260" name="Rectangle: Rounded Corners 6">
                <a:extLst>
                  <a:ext uri="{FF2B5EF4-FFF2-40B4-BE49-F238E27FC236}">
                    <a16:creationId xmlns:a16="http://schemas.microsoft.com/office/drawing/2014/main" id="{CFA9A00C-1B90-97F9-7BE6-AF3782F301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719" y="5270676"/>
                <a:ext cx="1771605" cy="216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>
                <a:solidFill>
                  <a:srgbClr val="C03BC4"/>
                </a:solidFill>
                <a:headEnd type="none" w="med" len="med"/>
                <a:tailEnd type="none" w="med" len="med"/>
              </a:ln>
              <a:effectLst>
                <a:outerShdw blurRad="63500" dist="63500" dir="2700000" rotWithShape="0">
                  <a:srgbClr val="454142">
                    <a:alpha val="20000"/>
                  </a:srgb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6000" tIns="36576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74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3BC4"/>
                    </a:solidFill>
                    <a:effectLst/>
                    <a:uLnTx/>
                    <a:uFillTx/>
                    <a:latin typeface="Segoe UI Semibold"/>
                    <a:ea typeface="+mn-ea"/>
                    <a:cs typeface="Segoe UI Semibold" panose="020B0702040204020203" pitchFamily="34" charset="0"/>
                  </a:rPr>
                  <a:t>Revenue growth</a:t>
                </a:r>
              </a:p>
            </p:txBody>
          </p:sp>
          <p:pic>
            <p:nvPicPr>
              <p:cNvPr id="261" name="Graphic 260">
                <a:extLst>
                  <a:ext uri="{FF2B5EF4-FFF2-40B4-BE49-F238E27FC236}">
                    <a16:creationId xmlns:a16="http://schemas.microsoft.com/office/drawing/2014/main" id="{86384C78-1BD5-895D-7300-CA45848A4F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7505" y="5306676"/>
                <a:ext cx="144000" cy="144000"/>
              </a:xfrm>
              <a:prstGeom prst="rect">
                <a:avLst/>
              </a:prstGeom>
            </p:spPr>
          </p:pic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33B3A1DA-DAB8-5082-F3B2-89CA4F133187}"/>
                </a:ext>
              </a:extLst>
            </p:cNvPr>
            <p:cNvGrpSpPr/>
            <p:nvPr/>
          </p:nvGrpSpPr>
          <p:grpSpPr>
            <a:xfrm>
              <a:off x="320721" y="5582445"/>
              <a:ext cx="1771605" cy="216000"/>
              <a:chOff x="320721" y="5582445"/>
              <a:chExt cx="1771605" cy="216000"/>
            </a:xfrm>
          </p:grpSpPr>
          <p:sp>
            <p:nvSpPr>
              <p:cNvPr id="258" name="Rectangle: Rounded Corners 257">
                <a:extLst>
                  <a:ext uri="{FF2B5EF4-FFF2-40B4-BE49-F238E27FC236}">
                    <a16:creationId xmlns:a16="http://schemas.microsoft.com/office/drawing/2014/main" id="{59E2F7EF-AB03-D699-6AD3-FD7A6EBA45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721" y="5582445"/>
                <a:ext cx="1771605" cy="216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>
                <a:solidFill>
                  <a:srgbClr val="C03BC4"/>
                </a:solidFill>
                <a:headEnd type="none" w="med" len="med"/>
                <a:tailEnd type="none" w="med" len="med"/>
              </a:ln>
              <a:effectLst>
                <a:outerShdw blurRad="63500" dist="63500" dir="2700000" rotWithShape="0">
                  <a:srgbClr val="454142">
                    <a:alpha val="20000"/>
                  </a:srgb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6000" tIns="36576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74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3BC4"/>
                    </a:solidFill>
                    <a:effectLst/>
                    <a:uLnTx/>
                    <a:uFillTx/>
                    <a:latin typeface="Segoe UI Semibold"/>
                    <a:ea typeface="+mn-ea"/>
                    <a:cs typeface="Segoe UI Semibold" panose="020B0702040204020203" pitchFamily="34" charset="0"/>
                  </a:rPr>
                  <a:t>Employee experience </a:t>
                </a:r>
              </a:p>
            </p:txBody>
          </p:sp>
          <p:pic>
            <p:nvPicPr>
              <p:cNvPr id="259" name="Graphic 258">
                <a:extLst>
                  <a:ext uri="{FF2B5EF4-FFF2-40B4-BE49-F238E27FC236}">
                    <a16:creationId xmlns:a16="http://schemas.microsoft.com/office/drawing/2014/main" id="{6051B286-E1D2-FB0E-5BBC-19DDFDF964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7505" y="5618445"/>
                <a:ext cx="144000" cy="144000"/>
              </a:xfrm>
              <a:prstGeom prst="rect">
                <a:avLst/>
              </a:prstGeom>
            </p:spPr>
          </p:pic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C1B95E7-7EF8-64F5-2496-0CD9DA27BE2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562472" y="2286931"/>
            <a:ext cx="183052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Chat</a:t>
            </a:r>
            <a:r>
              <a:rPr kumimoji="0" lang="en-US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1</a:t>
            </a:r>
          </a:p>
        </p:txBody>
      </p:sp>
      <p:pic>
        <p:nvPicPr>
          <p:cNvPr id="44" name="Picture 50">
            <a:hlinkClick r:id="rId6"/>
            <a:extLst>
              <a:ext uri="{FF2B5EF4-FFF2-40B4-BE49-F238E27FC236}">
                <a16:creationId xmlns:a16="http://schemas.microsoft.com/office/drawing/2014/main" id="{A65CFB93-60FA-1035-6E3D-846B16B33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938" y="2242688"/>
            <a:ext cx="242374" cy="24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F21CDBE-19FB-B478-50A2-C67DBAC7B9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562472" y="4886070"/>
            <a:ext cx="183052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Chat</a:t>
            </a:r>
            <a:r>
              <a:rPr kumimoji="0" lang="en-US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1</a:t>
            </a:r>
          </a:p>
        </p:txBody>
      </p:sp>
      <p:pic>
        <p:nvPicPr>
          <p:cNvPr id="53" name="Picture 50">
            <a:hlinkClick r:id="rId6"/>
            <a:extLst>
              <a:ext uri="{FF2B5EF4-FFF2-40B4-BE49-F238E27FC236}">
                <a16:creationId xmlns:a16="http://schemas.microsoft.com/office/drawing/2014/main" id="{9D2D4D2C-5004-5246-175B-E5928B09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938" y="4841827"/>
            <a:ext cx="242374" cy="24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9F43A33C-DE9D-7413-9C12-8699BD3C48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446959" y="2286931"/>
            <a:ext cx="183052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Chat</a:t>
            </a:r>
            <a:r>
              <a:rPr kumimoji="0" lang="en-US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1</a:t>
            </a:r>
          </a:p>
        </p:txBody>
      </p:sp>
      <p:pic>
        <p:nvPicPr>
          <p:cNvPr id="47" name="Picture 50">
            <a:hlinkClick r:id="rId6"/>
            <a:extLst>
              <a:ext uri="{FF2B5EF4-FFF2-40B4-BE49-F238E27FC236}">
                <a16:creationId xmlns:a16="http://schemas.microsoft.com/office/drawing/2014/main" id="{44E61DA5-69AF-62B2-47E7-0464E1EE9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5" y="2242688"/>
            <a:ext cx="242374" cy="24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56F7295-C420-D5E2-677B-42D37F9148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446959" y="4886070"/>
            <a:ext cx="183052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Chat</a:t>
            </a:r>
            <a:r>
              <a:rPr kumimoji="0" lang="en-US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1</a:t>
            </a:r>
          </a:p>
        </p:txBody>
      </p:sp>
      <p:pic>
        <p:nvPicPr>
          <p:cNvPr id="56" name="Picture 50">
            <a:hlinkClick r:id="rId6"/>
            <a:extLst>
              <a:ext uri="{FF2B5EF4-FFF2-40B4-BE49-F238E27FC236}">
                <a16:creationId xmlns:a16="http://schemas.microsoft.com/office/drawing/2014/main" id="{45BD6F8D-1DBB-755A-8268-3A6C1410E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5" y="4841827"/>
            <a:ext cx="242374" cy="24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160780B7-E7CD-042C-0AF1-4829E90933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9328927" y="2286931"/>
            <a:ext cx="183052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Chat</a:t>
            </a:r>
            <a:r>
              <a:rPr kumimoji="0" lang="en-US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1</a:t>
            </a:r>
          </a:p>
        </p:txBody>
      </p:sp>
      <p:pic>
        <p:nvPicPr>
          <p:cNvPr id="50" name="Picture 50">
            <a:hlinkClick r:id="rId6"/>
            <a:extLst>
              <a:ext uri="{FF2B5EF4-FFF2-40B4-BE49-F238E27FC236}">
                <a16:creationId xmlns:a16="http://schemas.microsoft.com/office/drawing/2014/main" id="{4E1A277C-7F3D-AC33-633A-9F1D2FB11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0325" y="2242688"/>
            <a:ext cx="242374" cy="24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4FD6046-3819-0A30-901A-0005710289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9328927" y="4886070"/>
            <a:ext cx="183052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Chat</a:t>
            </a:r>
            <a:r>
              <a:rPr kumimoji="0" lang="en-US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1</a:t>
            </a:r>
          </a:p>
        </p:txBody>
      </p:sp>
      <p:pic>
        <p:nvPicPr>
          <p:cNvPr id="59" name="Picture 50">
            <a:hlinkClick r:id="rId6"/>
            <a:extLst>
              <a:ext uri="{FF2B5EF4-FFF2-40B4-BE49-F238E27FC236}">
                <a16:creationId xmlns:a16="http://schemas.microsoft.com/office/drawing/2014/main" id="{B6F44AA3-165D-B66E-22DF-B169215FE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0325" y="4841827"/>
            <a:ext cx="242374" cy="24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638396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ight 16x9">
  <a:themeElements>
    <a:clrScheme name="Custom 7">
      <a:dk1>
        <a:srgbClr val="000000"/>
      </a:dk1>
      <a:lt1>
        <a:srgbClr val="FFFFFF"/>
      </a:lt1>
      <a:dk2>
        <a:srgbClr val="463668"/>
      </a:dk2>
      <a:lt2>
        <a:srgbClr val="E8E6DF"/>
      </a:lt2>
      <a:accent1>
        <a:srgbClr val="463668"/>
      </a:accent1>
      <a:accent2>
        <a:srgbClr val="C5B4E3"/>
      </a:accent2>
      <a:accent3>
        <a:srgbClr val="C03BC4"/>
      </a:accent3>
      <a:accent4>
        <a:srgbClr val="8C8279"/>
      </a:accent4>
      <a:accent5>
        <a:srgbClr val="D59ED7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brand template starter - 16x9 v04.potx" id="{4908BB59-E0F9-4262-9337-B2D75939F852}" vid="{C1F6406B-B671-42E9-A581-A06DD50715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368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Segoe UI</vt:lpstr>
      <vt:lpstr>Segoe UI Semibold</vt:lpstr>
      <vt:lpstr>Wingdings</vt:lpstr>
      <vt:lpstr>Light 16x9</vt:lpstr>
      <vt:lpstr>General IT prompts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2026-01-15T22:07:23Z</dcterms:created>
  <dcterms:modified xsi:type="dcterms:W3CDTF">2026-01-16T17:40:10Z</dcterms:modified>
</cp:coreProperties>
</file>